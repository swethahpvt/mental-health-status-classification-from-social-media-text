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730"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IN" sz="1800" b="0" i="0" u="none" strike="noStrike">
                <a:solidFill>
                  <a:srgbClr val="000000"/>
                </a:solidFill>
                <a:latin typeface="Arial"/>
              </a:rPr>
              <a:t>Balanced Class Distribution</a:t>
            </a:r>
          </a:p>
        </c:rich>
      </c:tx>
      <c:overlay val="0"/>
    </c:title>
    <c:autoTitleDeleted val="0"/>
    <c:plotArea>
      <c:layout/>
      <c:pieChart>
        <c:varyColors val="1"/>
        <c:ser>
          <c:idx val="0"/>
          <c:order val="0"/>
          <c:tx>
            <c:strRef>
              <c:f>Sheet1!$B$1</c:f>
              <c:strCache>
                <c:ptCount val="1"/>
                <c:pt idx="0">
                  <c:v>Distribution</c:v>
                </c:pt>
              </c:strCache>
            </c:strRef>
          </c:tx>
          <c:spPr>
            <a:solidFill>
              <a:schemeClr val="accent1"/>
            </a:solidFill>
            <a:ln w="9525" cap="flat">
              <a:solidFill>
                <a:srgbClr val="F9F9F9"/>
              </a:solidFill>
              <a:prstDash val="solid"/>
              <a:round/>
            </a:ln>
            <a:effectLst/>
          </c:spPr>
          <c:dPt>
            <c:idx val="0"/>
            <c:bubble3D val="0"/>
            <c:spPr>
              <a:solidFill>
                <a:srgbClr val="E53E3E"/>
              </a:solidFill>
              <a:effectLst/>
            </c:spPr>
            <c:extLst>
              <c:ext xmlns:c16="http://schemas.microsoft.com/office/drawing/2014/chart" uri="{C3380CC4-5D6E-409C-BE32-E72D297353CC}">
                <c16:uniqueId val="{00000001-EF56-4E0A-A144-72FFDAECB495}"/>
              </c:ext>
            </c:extLst>
          </c:dPt>
          <c:dPt>
            <c:idx val="1"/>
            <c:bubble3D val="0"/>
            <c:spPr>
              <a:solidFill>
                <a:srgbClr val="D69E2E"/>
              </a:solidFill>
              <a:effectLst/>
            </c:spPr>
            <c:extLst>
              <c:ext xmlns:c16="http://schemas.microsoft.com/office/drawing/2014/chart" uri="{C3380CC4-5D6E-409C-BE32-E72D297353CC}">
                <c16:uniqueId val="{00000003-EF56-4E0A-A144-72FFDAECB495}"/>
              </c:ext>
            </c:extLst>
          </c:dPt>
          <c:dPt>
            <c:idx val="2"/>
            <c:bubble3D val="0"/>
            <c:spPr>
              <a:solidFill>
                <a:srgbClr val="6B46C1"/>
              </a:solidFill>
              <a:effectLst/>
            </c:spPr>
            <c:extLst>
              <c:ext xmlns:c16="http://schemas.microsoft.com/office/drawing/2014/chart" uri="{C3380CC4-5D6E-409C-BE32-E72D297353CC}">
                <c16:uniqueId val="{00000005-EF56-4E0A-A144-72FFDAECB495}"/>
              </c:ext>
            </c:extLst>
          </c:dPt>
          <c:dPt>
            <c:idx val="3"/>
            <c:bubble3D val="0"/>
            <c:spPr>
              <a:solidFill>
                <a:srgbClr val="38A169"/>
              </a:solidFill>
              <a:effectLst/>
            </c:spPr>
            <c:extLst>
              <c:ext xmlns:c16="http://schemas.microsoft.com/office/drawing/2014/chart" uri="{C3380CC4-5D6E-409C-BE32-E72D297353CC}">
                <c16:uniqueId val="{00000007-EF56-4E0A-A144-72FFDAECB495}"/>
              </c:ext>
            </c:extLst>
          </c:dPt>
          <c:dLbls>
            <c:dLbl>
              <c:idx val="0"/>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EF56-4E0A-A144-72FFDAECB495}"/>
                </c:ext>
              </c:extLst>
            </c:dLbl>
            <c:dLbl>
              <c:idx val="1"/>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EF56-4E0A-A144-72FFDAECB495}"/>
                </c:ext>
              </c:extLst>
            </c:dLbl>
            <c:dLbl>
              <c:idx val="2"/>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EF56-4E0A-A144-72FFDAECB495}"/>
                </c:ext>
              </c:extLst>
            </c:dLbl>
            <c:dLbl>
              <c:idx val="3"/>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EF56-4E0A-A144-72FFDAECB495}"/>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Depression</c:v>
                </c:pt>
                <c:pt idx="1">
                  <c:v>Anxiety</c:v>
                </c:pt>
                <c:pt idx="2">
                  <c:v>PTSD</c:v>
                </c:pt>
                <c:pt idx="3">
                  <c:v>Normal</c:v>
                </c:pt>
              </c:strCache>
            </c:strRef>
          </c:cat>
          <c:val>
            <c:numRef>
              <c:f>Sheet1!$B$2:$B$5</c:f>
              <c:numCache>
                <c:formatCode>General</c:formatCode>
                <c:ptCount val="4"/>
                <c:pt idx="0">
                  <c:v>515</c:v>
                </c:pt>
                <c:pt idx="1">
                  <c:v>515</c:v>
                </c:pt>
                <c:pt idx="2">
                  <c:v>515</c:v>
                </c:pt>
                <c:pt idx="3">
                  <c:v>515</c:v>
                </c:pt>
              </c:numCache>
            </c:numRef>
          </c:val>
          <c:extLst>
            <c:ext xmlns:c16="http://schemas.microsoft.com/office/drawing/2014/chart" uri="{C3380CC4-5D6E-409C-BE32-E72D297353CC}">
              <c16:uniqueId val="{00000008-EF56-4E0A-A144-72FFDAECB495}"/>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legend>
    <c:plotVisOnly val="1"/>
    <c:dispBlanksAs val="span"/>
    <c:showDLblsOverMax val="1"/>
  </c:chart>
  <c:spPr>
    <a:solidFill>
      <a:srgbClr val="F0F7F8"/>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SVM vs BERT — Accuracy &amp; Macro F1 Comparison</a:t>
            </a:r>
          </a:p>
        </c:rich>
      </c:tx>
      <c:overlay val="0"/>
    </c:title>
    <c:autoTitleDeleted val="0"/>
    <c:plotArea>
      <c:layout/>
      <c:barChart>
        <c:barDir val="col"/>
        <c:grouping val="clustered"/>
        <c:varyColors val="0"/>
        <c:ser>
          <c:idx val="0"/>
          <c:order val="0"/>
          <c:tx>
            <c:strRef>
              <c:f>Sheet1!$B$1</c:f>
              <c:strCache>
                <c:ptCount val="1"/>
                <c:pt idx="0">
                  <c:v>Accuracy (%)</c:v>
                </c:pt>
              </c:strCache>
            </c:strRef>
          </c:tx>
          <c:spPr>
            <a:solidFill>
              <a:srgbClr val="94A3B8"/>
            </a:solidFill>
            <a:effectLst/>
          </c:spPr>
          <c:invertIfNegative val="0"/>
          <c:dLbls>
            <c:numFmt formatCode="#,##0" sourceLinked="0"/>
            <c:spPr>
              <a:noFill/>
              <a:ln>
                <a:noFill/>
              </a:ln>
              <a:effectLst/>
            </c:spPr>
            <c:txPr>
              <a:bodyPr/>
              <a:lstStyle/>
              <a:p>
                <a:pPr>
                  <a:defRPr sz="1100" b="0" i="0" u="none" strike="noStrike">
                    <a:solidFill>
                      <a:srgbClr val="0D1B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SVM</c:v>
                </c:pt>
                <c:pt idx="1">
                  <c:v>BERT</c:v>
                </c:pt>
              </c:strCache>
            </c:strRef>
          </c:cat>
          <c:val>
            <c:numRef>
              <c:f>Sheet1!$B$2:$B$3</c:f>
              <c:numCache>
                <c:formatCode>General</c:formatCode>
                <c:ptCount val="2"/>
                <c:pt idx="0">
                  <c:v>82.2</c:v>
                </c:pt>
                <c:pt idx="1">
                  <c:v>85.7</c:v>
                </c:pt>
              </c:numCache>
            </c:numRef>
          </c:val>
          <c:extLst>
            <c:ext xmlns:c16="http://schemas.microsoft.com/office/drawing/2014/chart" uri="{C3380CC4-5D6E-409C-BE32-E72D297353CC}">
              <c16:uniqueId val="{00000000-99EC-49D2-B09D-61C9D79A7911}"/>
            </c:ext>
          </c:extLst>
        </c:ser>
        <c:ser>
          <c:idx val="1"/>
          <c:order val="1"/>
          <c:tx>
            <c:strRef>
              <c:f>Sheet1!$C$1</c:f>
              <c:strCache>
                <c:ptCount val="1"/>
                <c:pt idx="0">
                  <c:v>Macro F1 (×100)</c:v>
                </c:pt>
              </c:strCache>
            </c:strRef>
          </c:tx>
          <c:spPr>
            <a:solidFill>
              <a:srgbClr val="028090"/>
            </a:solidFill>
            <a:effectLst/>
          </c:spPr>
          <c:invertIfNegative val="0"/>
          <c:dLbls>
            <c:numFmt formatCode="#,##0" sourceLinked="0"/>
            <c:spPr>
              <a:noFill/>
              <a:ln>
                <a:noFill/>
              </a:ln>
              <a:effectLst/>
            </c:spPr>
            <c:txPr>
              <a:bodyPr/>
              <a:lstStyle/>
              <a:p>
                <a:pPr>
                  <a:defRPr sz="1100" b="0" i="0" u="none" strike="noStrike">
                    <a:solidFill>
                      <a:srgbClr val="0D1B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SVM</c:v>
                </c:pt>
                <c:pt idx="1">
                  <c:v>BERT</c:v>
                </c:pt>
              </c:strCache>
            </c:strRef>
          </c:cat>
          <c:val>
            <c:numRef>
              <c:f>Sheet1!$C$2:$C$3</c:f>
              <c:numCache>
                <c:formatCode>General</c:formatCode>
                <c:ptCount val="2"/>
                <c:pt idx="0">
                  <c:v>82.1</c:v>
                </c:pt>
                <c:pt idx="1">
                  <c:v>85.7</c:v>
                </c:pt>
              </c:numCache>
            </c:numRef>
          </c:val>
          <c:extLst>
            <c:ext xmlns:c16="http://schemas.microsoft.com/office/drawing/2014/chart" uri="{C3380CC4-5D6E-409C-BE32-E72D297353CC}">
              <c16:uniqueId val="{00000001-99EC-49D2-B09D-61C9D79A791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90"/>
          <c:min val="78"/>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r"/>
      <c:overlay val="0"/>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Recall (Sensitivity) by Class — SVM vs BERT</a:t>
            </a:r>
          </a:p>
        </c:rich>
      </c:tx>
      <c:overlay val="0"/>
    </c:title>
    <c:autoTitleDeleted val="0"/>
    <c:plotArea>
      <c:layout/>
      <c:barChart>
        <c:barDir val="col"/>
        <c:grouping val="clustered"/>
        <c:varyColors val="0"/>
        <c:ser>
          <c:idx val="0"/>
          <c:order val="0"/>
          <c:tx>
            <c:strRef>
              <c:f>Sheet1!$B$1</c:f>
              <c:strCache>
                <c:ptCount val="1"/>
                <c:pt idx="0">
                  <c:v>SVM Recall (%)</c:v>
                </c:pt>
              </c:strCache>
            </c:strRef>
          </c:tx>
          <c:spPr>
            <a:solidFill>
              <a:srgbClr val="94A3B8"/>
            </a:solidFill>
            <a:effectLst/>
          </c:spPr>
          <c:invertIfNegative val="0"/>
          <c:dLbls>
            <c:numFmt formatCode="#,##0" sourceLinked="0"/>
            <c:spPr>
              <a:noFill/>
              <a:ln>
                <a:noFill/>
              </a:ln>
              <a:effectLst/>
            </c:spPr>
            <c:txPr>
              <a:bodyPr/>
              <a:lstStyle/>
              <a:p>
                <a:pPr>
                  <a:defRPr sz="1000" b="0" i="0" u="none" strike="noStrike">
                    <a:solidFill>
                      <a:srgbClr val="0D1B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Depression</c:v>
                </c:pt>
                <c:pt idx="1">
                  <c:v>Anxiety</c:v>
                </c:pt>
                <c:pt idx="2">
                  <c:v>PTSD</c:v>
                </c:pt>
                <c:pt idx="3">
                  <c:v>Normal</c:v>
                </c:pt>
              </c:strCache>
            </c:strRef>
          </c:cat>
          <c:val>
            <c:numRef>
              <c:f>Sheet1!$B$2:$B$5</c:f>
              <c:numCache>
                <c:formatCode>General</c:formatCode>
                <c:ptCount val="4"/>
                <c:pt idx="0">
                  <c:v>87</c:v>
                </c:pt>
                <c:pt idx="1">
                  <c:v>80</c:v>
                </c:pt>
                <c:pt idx="2">
                  <c:v>88</c:v>
                </c:pt>
                <c:pt idx="3">
                  <c:v>73</c:v>
                </c:pt>
              </c:numCache>
            </c:numRef>
          </c:val>
          <c:extLst>
            <c:ext xmlns:c16="http://schemas.microsoft.com/office/drawing/2014/chart" uri="{C3380CC4-5D6E-409C-BE32-E72D297353CC}">
              <c16:uniqueId val="{00000000-B2CC-4E87-A210-73A508330BB1}"/>
            </c:ext>
          </c:extLst>
        </c:ser>
        <c:ser>
          <c:idx val="1"/>
          <c:order val="1"/>
          <c:tx>
            <c:strRef>
              <c:f>Sheet1!$C$1</c:f>
              <c:strCache>
                <c:ptCount val="1"/>
                <c:pt idx="0">
                  <c:v>BERT Recall (%)</c:v>
                </c:pt>
              </c:strCache>
            </c:strRef>
          </c:tx>
          <c:spPr>
            <a:solidFill>
              <a:srgbClr val="028090"/>
            </a:solidFill>
            <a:effectLst/>
          </c:spPr>
          <c:invertIfNegative val="0"/>
          <c:dLbls>
            <c:numFmt formatCode="#,##0" sourceLinked="0"/>
            <c:spPr>
              <a:noFill/>
              <a:ln>
                <a:noFill/>
              </a:ln>
              <a:effectLst/>
            </c:spPr>
            <c:txPr>
              <a:bodyPr/>
              <a:lstStyle/>
              <a:p>
                <a:pPr>
                  <a:defRPr sz="1000" b="0" i="0" u="none" strike="noStrike">
                    <a:solidFill>
                      <a:srgbClr val="0D1B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Depression</c:v>
                </c:pt>
                <c:pt idx="1">
                  <c:v>Anxiety</c:v>
                </c:pt>
                <c:pt idx="2">
                  <c:v>PTSD</c:v>
                </c:pt>
                <c:pt idx="3">
                  <c:v>Normal</c:v>
                </c:pt>
              </c:strCache>
            </c:strRef>
          </c:cat>
          <c:val>
            <c:numRef>
              <c:f>Sheet1!$C$2:$C$5</c:f>
              <c:numCache>
                <c:formatCode>General</c:formatCode>
                <c:ptCount val="4"/>
                <c:pt idx="0">
                  <c:v>86</c:v>
                </c:pt>
                <c:pt idx="1">
                  <c:v>89</c:v>
                </c:pt>
                <c:pt idx="2">
                  <c:v>86</c:v>
                </c:pt>
                <c:pt idx="3">
                  <c:v>81</c:v>
                </c:pt>
              </c:numCache>
            </c:numRef>
          </c:val>
          <c:extLst>
            <c:ext xmlns:c16="http://schemas.microsoft.com/office/drawing/2014/chart" uri="{C3380CC4-5D6E-409C-BE32-E72D297353CC}">
              <c16:uniqueId val="{00000001-B2CC-4E87-A210-73A508330BB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00"/>
          <c:min val="6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r"/>
      <c:overlay val="0"/>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5187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w="12700">
            <a:solidFill>
              <a:srgbClr val="028090"/>
            </a:solidFill>
            <a:prstDash val="solid"/>
          </a:ln>
        </p:spPr>
        <p:txBody>
          <a:bodyPr/>
          <a:lstStyle/>
          <a:p>
            <a:endParaRPr lang="en-IN"/>
          </a:p>
        </p:txBody>
      </p:sp>
      <p:sp>
        <p:nvSpPr>
          <p:cNvPr id="3" name="Shape 1"/>
          <p:cNvSpPr/>
          <p:nvPr/>
        </p:nvSpPr>
        <p:spPr>
          <a:xfrm>
            <a:off x="7132320" y="457200"/>
            <a:ext cx="1645920" cy="1645920"/>
          </a:xfrm>
          <a:prstGeom prst="ellipse">
            <a:avLst/>
          </a:prstGeom>
          <a:solidFill>
            <a:srgbClr val="028090"/>
          </a:solidFill>
          <a:ln w="12700">
            <a:solidFill>
              <a:srgbClr val="028090"/>
            </a:solidFill>
            <a:prstDash val="solid"/>
          </a:ln>
        </p:spPr>
        <p:txBody>
          <a:bodyPr/>
          <a:lstStyle/>
          <a:p>
            <a:endParaRPr lang="en-IN"/>
          </a:p>
        </p:txBody>
      </p:sp>
      <p:sp>
        <p:nvSpPr>
          <p:cNvPr id="4" name="Text 2"/>
          <p:cNvSpPr/>
          <p:nvPr/>
        </p:nvSpPr>
        <p:spPr>
          <a:xfrm>
            <a:off x="7132320" y="457200"/>
            <a:ext cx="1645920" cy="1645920"/>
          </a:xfrm>
          <a:prstGeom prst="rect">
            <a:avLst/>
          </a:prstGeom>
          <a:noFill/>
          <a:ln/>
        </p:spPr>
        <p:txBody>
          <a:bodyPr wrap="square" rtlCol="0" anchor="ctr"/>
          <a:lstStyle/>
          <a:p>
            <a:pPr marL="0" indent="0" algn="ctr">
              <a:buNone/>
            </a:pPr>
            <a:r>
              <a:rPr lang="en-US" sz="4200" dirty="0">
                <a:solidFill>
                  <a:srgbClr val="000000"/>
                </a:solidFill>
              </a:rPr>
              <a:t>🧠</a:t>
            </a:r>
            <a:endParaRPr lang="en-US" sz="4200" dirty="0"/>
          </a:p>
        </p:txBody>
      </p:sp>
      <p:sp>
        <p:nvSpPr>
          <p:cNvPr id="5" name="Text 3"/>
          <p:cNvSpPr/>
          <p:nvPr/>
        </p:nvSpPr>
        <p:spPr>
          <a:xfrm>
            <a:off x="502920" y="914400"/>
            <a:ext cx="8229600" cy="640080"/>
          </a:xfrm>
          <a:prstGeom prst="rect">
            <a:avLst/>
          </a:prstGeom>
          <a:noFill/>
          <a:ln/>
        </p:spPr>
        <p:txBody>
          <a:bodyPr wrap="square"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Mental Health Status</a:t>
            </a:r>
            <a:endParaRPr lang="en-US" sz="3600" dirty="0"/>
          </a:p>
        </p:txBody>
      </p:sp>
      <p:sp>
        <p:nvSpPr>
          <p:cNvPr id="6" name="Text 4"/>
          <p:cNvSpPr/>
          <p:nvPr/>
        </p:nvSpPr>
        <p:spPr>
          <a:xfrm>
            <a:off x="502920" y="1508760"/>
            <a:ext cx="8229600" cy="502920"/>
          </a:xfrm>
          <a:prstGeom prst="rect">
            <a:avLst/>
          </a:prstGeom>
          <a:noFill/>
          <a:ln/>
        </p:spPr>
        <p:txBody>
          <a:bodyPr wrap="square" rtlCol="0" anchor="ctr"/>
          <a:lstStyle/>
          <a:p>
            <a:pPr marL="0" indent="0" algn="l">
              <a:buNone/>
            </a:pPr>
            <a:r>
              <a:rPr lang="en-US" sz="2400" dirty="0">
                <a:solidFill>
                  <a:srgbClr val="02C39A"/>
                </a:solidFill>
                <a:latin typeface="Calibri" pitchFamily="34" charset="0"/>
                <a:ea typeface="Calibri" pitchFamily="34" charset="-122"/>
                <a:cs typeface="Calibri" pitchFamily="34" charset="-120"/>
              </a:rPr>
              <a:t>Classification from Social Media Text</a:t>
            </a:r>
            <a:endParaRPr lang="en-US" sz="2400" dirty="0"/>
          </a:p>
        </p:txBody>
      </p:sp>
      <p:sp>
        <p:nvSpPr>
          <p:cNvPr id="7" name="Shape 5"/>
          <p:cNvSpPr/>
          <p:nvPr/>
        </p:nvSpPr>
        <p:spPr>
          <a:xfrm>
            <a:off x="502920" y="2148840"/>
            <a:ext cx="4114800" cy="36576"/>
          </a:xfrm>
          <a:prstGeom prst="rect">
            <a:avLst/>
          </a:prstGeom>
          <a:solidFill>
            <a:srgbClr val="028090"/>
          </a:solidFill>
          <a:ln w="12700">
            <a:solidFill>
              <a:srgbClr val="028090"/>
            </a:solidFill>
            <a:prstDash val="solid"/>
          </a:ln>
        </p:spPr>
        <p:txBody>
          <a:bodyPr/>
          <a:lstStyle/>
          <a:p>
            <a:endParaRPr lang="en-IN"/>
          </a:p>
        </p:txBody>
      </p:sp>
      <p:sp>
        <p:nvSpPr>
          <p:cNvPr id="8" name="Text 6"/>
          <p:cNvSpPr/>
          <p:nvPr/>
        </p:nvSpPr>
        <p:spPr>
          <a:xfrm>
            <a:off x="502920" y="2331720"/>
            <a:ext cx="3657600" cy="320040"/>
          </a:xfrm>
          <a:prstGeom prst="rect">
            <a:avLst/>
          </a:prstGeom>
          <a:noFill/>
          <a:ln/>
        </p:spPr>
        <p:txBody>
          <a:bodyPr wrap="square"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Team Members</a:t>
            </a:r>
            <a:endParaRPr lang="en-US" sz="1300" dirty="0"/>
          </a:p>
        </p:txBody>
      </p:sp>
      <p:sp>
        <p:nvSpPr>
          <p:cNvPr id="9" name="Text 7"/>
          <p:cNvSpPr/>
          <p:nvPr/>
        </p:nvSpPr>
        <p:spPr>
          <a:xfrm>
            <a:off x="502920" y="2697480"/>
            <a:ext cx="8229600" cy="1005840"/>
          </a:xfrm>
          <a:prstGeom prst="rect">
            <a:avLst/>
          </a:prstGeom>
          <a:noFill/>
          <a:ln/>
        </p:spPr>
        <p:txBody>
          <a:bodyPr wrap="square" rtlCol="0" anchor="ctr"/>
          <a:lstStyle/>
          <a:p>
            <a:pPr>
              <a:lnSpc>
                <a:spcPct val="140000"/>
              </a:lnSpc>
            </a:pPr>
            <a:r>
              <a:rPr lang="en-US" sz="1300" b="1" dirty="0">
                <a:solidFill>
                  <a:srgbClr val="FFFFFF"/>
                </a:solidFill>
                <a:latin typeface="Calibri" pitchFamily="34" charset="0"/>
                <a:ea typeface="Calibri" pitchFamily="34" charset="-122"/>
                <a:cs typeface="Calibri" pitchFamily="34" charset="-120"/>
              </a:rPr>
              <a:t>Swetha Babu  </a:t>
            </a:r>
            <a:r>
              <a:rPr lang="en-US" sz="1300" dirty="0">
                <a:solidFill>
                  <a:srgbClr val="AAAAAA"/>
                </a:solidFill>
                <a:latin typeface="Calibri" pitchFamily="34" charset="0"/>
                <a:ea typeface="Calibri" pitchFamily="34" charset="-122"/>
                <a:cs typeface="Calibri" pitchFamily="34" charset="-120"/>
              </a:rPr>
              <a:t>| 254122 | </a:t>
            </a:r>
            <a:r>
              <a:rPr lang="en-US" sz="1400" i="1" dirty="0" err="1">
                <a:solidFill>
                  <a:schemeClr val="accent3"/>
                </a:solidFill>
              </a:rPr>
              <a:t>Msc</a:t>
            </a:r>
            <a:r>
              <a:rPr lang="en-US" sz="1400" i="1" dirty="0">
                <a:solidFill>
                  <a:schemeClr val="accent3"/>
                </a:solidFill>
              </a:rPr>
              <a:t> Data Analytics and Computational Science </a:t>
            </a:r>
            <a:r>
              <a:rPr lang="en-US" sz="1300" dirty="0">
                <a:solidFill>
                  <a:srgbClr val="AAAAAA"/>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Sebin George  </a:t>
            </a:r>
            <a:r>
              <a:rPr lang="en-US" sz="1300" dirty="0">
                <a:solidFill>
                  <a:srgbClr val="AAAAAA"/>
                </a:solidFill>
                <a:latin typeface="Calibri" pitchFamily="34" charset="0"/>
                <a:ea typeface="Calibri" pitchFamily="34" charset="-122"/>
                <a:cs typeface="Calibri" pitchFamily="34" charset="-120"/>
              </a:rPr>
              <a:t>| 253309 | MSc Data Science &amp; </a:t>
            </a:r>
            <a:r>
              <a:rPr lang="en-US" sz="1300" dirty="0">
                <a:solidFill>
                  <a:schemeClr val="accent3"/>
                </a:solidFill>
                <a:latin typeface="Calibri" pitchFamily="34" charset="0"/>
                <a:ea typeface="Calibri" pitchFamily="34" charset="-122"/>
                <a:cs typeface="Calibri" pitchFamily="34" charset="-120"/>
              </a:rPr>
              <a:t>Geoinformatics</a:t>
            </a:r>
            <a:r>
              <a:rPr lang="en-US" sz="1300" dirty="0">
                <a:solidFill>
                  <a:srgbClr val="AAAAAA"/>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Arun P S  </a:t>
            </a:r>
            <a:r>
              <a:rPr lang="en-US" sz="1300" dirty="0">
                <a:solidFill>
                  <a:srgbClr val="AAAAAA"/>
                </a:solidFill>
                <a:latin typeface="Calibri" pitchFamily="34" charset="0"/>
                <a:ea typeface="Calibri" pitchFamily="34" charset="-122"/>
                <a:cs typeface="Calibri" pitchFamily="34" charset="-120"/>
              </a:rPr>
              <a:t>| 253206 | MSc Data Science &amp; BioAI</a:t>
            </a:r>
            <a:endParaRPr lang="en-US" sz="1300" dirty="0"/>
          </a:p>
        </p:txBody>
      </p:sp>
      <p:sp>
        <p:nvSpPr>
          <p:cNvPr id="10" name="Shape 8"/>
          <p:cNvSpPr/>
          <p:nvPr/>
        </p:nvSpPr>
        <p:spPr>
          <a:xfrm>
            <a:off x="502920" y="4114800"/>
            <a:ext cx="2194560" cy="365760"/>
          </a:xfrm>
          <a:prstGeom prst="rect">
            <a:avLst/>
          </a:prstGeom>
          <a:solidFill>
            <a:srgbClr val="028090"/>
          </a:solidFill>
          <a:ln w="12700">
            <a:solidFill>
              <a:srgbClr val="028090"/>
            </a:solidFill>
            <a:prstDash val="solid"/>
          </a:ln>
        </p:spPr>
        <p:txBody>
          <a:bodyPr/>
          <a:lstStyle/>
          <a:p>
            <a:endParaRPr lang="en-IN"/>
          </a:p>
        </p:txBody>
      </p:sp>
      <p:sp>
        <p:nvSpPr>
          <p:cNvPr id="11" name="Text 9"/>
          <p:cNvSpPr/>
          <p:nvPr/>
        </p:nvSpPr>
        <p:spPr>
          <a:xfrm>
            <a:off x="502920" y="4114800"/>
            <a:ext cx="2194560" cy="365760"/>
          </a:xfrm>
          <a:prstGeom prst="rect">
            <a:avLst/>
          </a:prstGeom>
          <a:noFill/>
          <a:ln/>
        </p:spPr>
        <p:txBody>
          <a:bodyPr wrap="square" rtlCol="0" anchor="ctr"/>
          <a:lstStyle/>
          <a:p>
            <a:pPr marL="0" indent="0" algn="ctr">
              <a:buNone/>
            </a:pPr>
            <a:r>
              <a:rPr lang="en-US" sz="1100" b="1" dirty="0">
                <a:solidFill>
                  <a:srgbClr val="FFFFFF"/>
                </a:solidFill>
              </a:rPr>
              <a:t>🔗  Live Streamlit App</a:t>
            </a:r>
            <a:endParaRPr lang="en-US" sz="1100" dirty="0"/>
          </a:p>
        </p:txBody>
      </p:sp>
      <p:sp>
        <p:nvSpPr>
          <p:cNvPr id="12" name="Text 10"/>
          <p:cNvSpPr/>
          <p:nvPr/>
        </p:nvSpPr>
        <p:spPr>
          <a:xfrm>
            <a:off x="5029200" y="4114800"/>
            <a:ext cx="3840480" cy="365760"/>
          </a:xfrm>
          <a:prstGeom prst="rect">
            <a:avLst/>
          </a:prstGeom>
          <a:noFill/>
          <a:ln/>
        </p:spPr>
        <p:txBody>
          <a:bodyPr wrap="square" rtlCol="0" anchor="ctr"/>
          <a:lstStyle/>
          <a:p>
            <a:pPr marL="0" indent="0" algn="r">
              <a:buNone/>
            </a:pPr>
            <a:r>
              <a:rPr lang="en-US" sz="1100" i="1" dirty="0">
                <a:solidFill>
                  <a:srgbClr val="64748B"/>
                </a:solidFill>
              </a:rPr>
              <a:t>NLP · BERT · SVM · Mental Health AI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65760" y="0"/>
            <a:ext cx="8229600" cy="82296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Problem Statement</a:t>
            </a:r>
            <a:endParaRPr lang="en-US" sz="2600" dirty="0"/>
          </a:p>
        </p:txBody>
      </p:sp>
      <p:sp>
        <p:nvSpPr>
          <p:cNvPr id="4" name="Shape 2"/>
          <p:cNvSpPr/>
          <p:nvPr/>
        </p:nvSpPr>
        <p:spPr>
          <a:xfrm>
            <a:off x="274320" y="1005840"/>
            <a:ext cx="3931920" cy="356616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5" name="Text 3"/>
          <p:cNvSpPr/>
          <p:nvPr/>
        </p:nvSpPr>
        <p:spPr>
          <a:xfrm>
            <a:off x="457200" y="1188720"/>
            <a:ext cx="3566160" cy="365760"/>
          </a:xfrm>
          <a:prstGeom prst="rect">
            <a:avLst/>
          </a:prstGeom>
          <a:noFill/>
          <a:ln/>
        </p:spPr>
        <p:txBody>
          <a:bodyPr wrap="square"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Context</a:t>
            </a:r>
            <a:endParaRPr lang="en-US" sz="1500" dirty="0"/>
          </a:p>
        </p:txBody>
      </p:sp>
      <p:sp>
        <p:nvSpPr>
          <p:cNvPr id="6" name="Text 4"/>
          <p:cNvSpPr/>
          <p:nvPr/>
        </p:nvSpPr>
        <p:spPr>
          <a:xfrm>
            <a:off x="457200" y="1600200"/>
            <a:ext cx="3566160" cy="2743200"/>
          </a:xfrm>
          <a:prstGeom prst="rect">
            <a:avLst/>
          </a:prstGeom>
          <a:noFill/>
          <a:ln/>
        </p:spPr>
        <p:txBody>
          <a:bodyPr wrap="square" rtlCol="0" anchor="ctr"/>
          <a:lstStyle/>
          <a:p>
            <a:pPr marL="0" indent="0">
              <a:lnSpc>
                <a:spcPct val="140000"/>
              </a:lnSpc>
              <a:buNone/>
            </a:pPr>
            <a:r>
              <a:rPr lang="en-US" sz="1300" dirty="0">
                <a:solidFill>
                  <a:srgbClr val="0D1B2A"/>
                </a:solidFill>
                <a:latin typeface="Calibri" pitchFamily="34" charset="0"/>
                <a:ea typeface="Calibri" pitchFamily="34" charset="-122"/>
                <a:cs typeface="Calibri" pitchFamily="34" charset="-120"/>
              </a:rPr>
              <a:t>Mental health conditions such as depression, anxiety, and PTSD are increasingly reflected in social media activity.
Millions of users share emotional experiences on platforms like Reddit and Twitter, creating an unprecedented opportunity for NLP-based early detection.</a:t>
            </a:r>
            <a:endParaRPr lang="en-US" sz="1300" dirty="0"/>
          </a:p>
        </p:txBody>
      </p:sp>
      <p:sp>
        <p:nvSpPr>
          <p:cNvPr id="7" name="Shape 5"/>
          <p:cNvSpPr/>
          <p:nvPr/>
        </p:nvSpPr>
        <p:spPr>
          <a:xfrm>
            <a:off x="4663440" y="1005840"/>
            <a:ext cx="4206240" cy="356616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8" name="Text 6"/>
          <p:cNvSpPr/>
          <p:nvPr/>
        </p:nvSpPr>
        <p:spPr>
          <a:xfrm>
            <a:off x="4846320" y="1188720"/>
            <a:ext cx="3840480" cy="365760"/>
          </a:xfrm>
          <a:prstGeom prst="rect">
            <a:avLst/>
          </a:prstGeom>
          <a:noFill/>
          <a:ln/>
        </p:spPr>
        <p:txBody>
          <a:bodyPr wrap="square"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4 Classification Categories</a:t>
            </a:r>
            <a:endParaRPr lang="en-US" sz="1500" dirty="0"/>
          </a:p>
        </p:txBody>
      </p:sp>
      <p:sp>
        <p:nvSpPr>
          <p:cNvPr id="9" name="Shape 7"/>
          <p:cNvSpPr/>
          <p:nvPr/>
        </p:nvSpPr>
        <p:spPr>
          <a:xfrm>
            <a:off x="4846320" y="1691640"/>
            <a:ext cx="502920" cy="502920"/>
          </a:xfrm>
          <a:prstGeom prst="rect">
            <a:avLst/>
          </a:prstGeom>
          <a:solidFill>
            <a:srgbClr val="E53E3E"/>
          </a:solidFill>
          <a:ln w="12700">
            <a:solidFill>
              <a:srgbClr val="E53E3E"/>
            </a:solidFill>
            <a:prstDash val="solid"/>
          </a:ln>
        </p:spPr>
        <p:txBody>
          <a:bodyPr/>
          <a:lstStyle/>
          <a:p>
            <a:endParaRPr lang="en-IN"/>
          </a:p>
        </p:txBody>
      </p:sp>
      <p:sp>
        <p:nvSpPr>
          <p:cNvPr id="10" name="Text 8"/>
          <p:cNvSpPr/>
          <p:nvPr/>
        </p:nvSpPr>
        <p:spPr>
          <a:xfrm>
            <a:off x="4846320" y="1691640"/>
            <a:ext cx="502920" cy="50292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1" name="Text 9"/>
          <p:cNvSpPr/>
          <p:nvPr/>
        </p:nvSpPr>
        <p:spPr>
          <a:xfrm>
            <a:off x="5486400" y="1737360"/>
            <a:ext cx="2926080" cy="411480"/>
          </a:xfrm>
          <a:prstGeom prst="rect">
            <a:avLst/>
          </a:prstGeom>
          <a:noFill/>
          <a:ln/>
        </p:spPr>
        <p:txBody>
          <a:bodyPr wrap="square" rtlCol="0" anchor="ctr"/>
          <a:lstStyle/>
          <a:p>
            <a:pPr marL="0" indent="0">
              <a:buNone/>
            </a:pPr>
            <a:r>
              <a:rPr lang="en-US" sz="1600" b="1" dirty="0">
                <a:solidFill>
                  <a:srgbClr val="0D1B2A"/>
                </a:solidFill>
                <a:latin typeface="Calibri" pitchFamily="34" charset="0"/>
                <a:ea typeface="Calibri" pitchFamily="34" charset="-122"/>
                <a:cs typeface="Calibri" pitchFamily="34" charset="-120"/>
              </a:rPr>
              <a:t>Depression</a:t>
            </a:r>
            <a:endParaRPr lang="en-US" sz="1600" dirty="0"/>
          </a:p>
        </p:txBody>
      </p:sp>
      <p:sp>
        <p:nvSpPr>
          <p:cNvPr id="12" name="Shape 10"/>
          <p:cNvSpPr/>
          <p:nvPr/>
        </p:nvSpPr>
        <p:spPr>
          <a:xfrm>
            <a:off x="4846320" y="2377440"/>
            <a:ext cx="502920" cy="502920"/>
          </a:xfrm>
          <a:prstGeom prst="rect">
            <a:avLst/>
          </a:prstGeom>
          <a:solidFill>
            <a:srgbClr val="D69E2E"/>
          </a:solidFill>
          <a:ln w="12700">
            <a:solidFill>
              <a:srgbClr val="D69E2E"/>
            </a:solidFill>
            <a:prstDash val="solid"/>
          </a:ln>
        </p:spPr>
        <p:txBody>
          <a:bodyPr/>
          <a:lstStyle/>
          <a:p>
            <a:endParaRPr lang="en-IN"/>
          </a:p>
        </p:txBody>
      </p:sp>
      <p:sp>
        <p:nvSpPr>
          <p:cNvPr id="13" name="Text 11"/>
          <p:cNvSpPr/>
          <p:nvPr/>
        </p:nvSpPr>
        <p:spPr>
          <a:xfrm>
            <a:off x="4846320" y="2377440"/>
            <a:ext cx="502920" cy="50292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4" name="Text 12"/>
          <p:cNvSpPr/>
          <p:nvPr/>
        </p:nvSpPr>
        <p:spPr>
          <a:xfrm>
            <a:off x="5486400" y="2423160"/>
            <a:ext cx="2926080" cy="411480"/>
          </a:xfrm>
          <a:prstGeom prst="rect">
            <a:avLst/>
          </a:prstGeom>
          <a:noFill/>
          <a:ln/>
        </p:spPr>
        <p:txBody>
          <a:bodyPr wrap="square" rtlCol="0" anchor="ctr"/>
          <a:lstStyle/>
          <a:p>
            <a:pPr marL="0" indent="0">
              <a:buNone/>
            </a:pPr>
            <a:r>
              <a:rPr lang="en-US" sz="1600" b="1" dirty="0">
                <a:solidFill>
                  <a:srgbClr val="0D1B2A"/>
                </a:solidFill>
                <a:latin typeface="Calibri" pitchFamily="34" charset="0"/>
                <a:ea typeface="Calibri" pitchFamily="34" charset="-122"/>
                <a:cs typeface="Calibri" pitchFamily="34" charset="-120"/>
              </a:rPr>
              <a:t>Anxiety</a:t>
            </a:r>
            <a:endParaRPr lang="en-US" sz="1600" dirty="0"/>
          </a:p>
        </p:txBody>
      </p:sp>
      <p:sp>
        <p:nvSpPr>
          <p:cNvPr id="15" name="Shape 13"/>
          <p:cNvSpPr/>
          <p:nvPr/>
        </p:nvSpPr>
        <p:spPr>
          <a:xfrm>
            <a:off x="4846320" y="3063240"/>
            <a:ext cx="502920" cy="502920"/>
          </a:xfrm>
          <a:prstGeom prst="rect">
            <a:avLst/>
          </a:prstGeom>
          <a:solidFill>
            <a:srgbClr val="6B46C1"/>
          </a:solidFill>
          <a:ln w="12700">
            <a:solidFill>
              <a:srgbClr val="6B46C1"/>
            </a:solidFill>
            <a:prstDash val="solid"/>
          </a:ln>
        </p:spPr>
        <p:txBody>
          <a:bodyPr/>
          <a:lstStyle/>
          <a:p>
            <a:endParaRPr lang="en-IN"/>
          </a:p>
        </p:txBody>
      </p:sp>
      <p:sp>
        <p:nvSpPr>
          <p:cNvPr id="16" name="Text 14"/>
          <p:cNvSpPr/>
          <p:nvPr/>
        </p:nvSpPr>
        <p:spPr>
          <a:xfrm>
            <a:off x="4846320" y="3063240"/>
            <a:ext cx="502920" cy="50292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7" name="Text 15"/>
          <p:cNvSpPr/>
          <p:nvPr/>
        </p:nvSpPr>
        <p:spPr>
          <a:xfrm>
            <a:off x="5486400" y="3108960"/>
            <a:ext cx="2926080" cy="411480"/>
          </a:xfrm>
          <a:prstGeom prst="rect">
            <a:avLst/>
          </a:prstGeom>
          <a:noFill/>
          <a:ln/>
        </p:spPr>
        <p:txBody>
          <a:bodyPr wrap="square" rtlCol="0" anchor="ctr"/>
          <a:lstStyle/>
          <a:p>
            <a:pPr marL="0" indent="0">
              <a:buNone/>
            </a:pPr>
            <a:r>
              <a:rPr lang="en-US" sz="1600" b="1" dirty="0">
                <a:solidFill>
                  <a:srgbClr val="0D1B2A"/>
                </a:solidFill>
                <a:latin typeface="Calibri" pitchFamily="34" charset="0"/>
                <a:ea typeface="Calibri" pitchFamily="34" charset="-122"/>
                <a:cs typeface="Calibri" pitchFamily="34" charset="-120"/>
              </a:rPr>
              <a:t>PTSD</a:t>
            </a:r>
            <a:endParaRPr lang="en-US" sz="1600" dirty="0"/>
          </a:p>
        </p:txBody>
      </p:sp>
      <p:sp>
        <p:nvSpPr>
          <p:cNvPr id="18" name="Shape 16"/>
          <p:cNvSpPr/>
          <p:nvPr/>
        </p:nvSpPr>
        <p:spPr>
          <a:xfrm>
            <a:off x="4846320" y="3749040"/>
            <a:ext cx="502920" cy="502920"/>
          </a:xfrm>
          <a:prstGeom prst="rect">
            <a:avLst/>
          </a:prstGeom>
          <a:solidFill>
            <a:srgbClr val="38A169"/>
          </a:solidFill>
          <a:ln w="12700">
            <a:solidFill>
              <a:srgbClr val="38A169"/>
            </a:solidFill>
            <a:prstDash val="solid"/>
          </a:ln>
        </p:spPr>
        <p:txBody>
          <a:bodyPr/>
          <a:lstStyle/>
          <a:p>
            <a:endParaRPr lang="en-IN"/>
          </a:p>
        </p:txBody>
      </p:sp>
      <p:sp>
        <p:nvSpPr>
          <p:cNvPr id="19" name="Text 17"/>
          <p:cNvSpPr/>
          <p:nvPr/>
        </p:nvSpPr>
        <p:spPr>
          <a:xfrm>
            <a:off x="4846320" y="3749040"/>
            <a:ext cx="502920" cy="50292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0" name="Text 18"/>
          <p:cNvSpPr/>
          <p:nvPr/>
        </p:nvSpPr>
        <p:spPr>
          <a:xfrm>
            <a:off x="5486400" y="3794760"/>
            <a:ext cx="2926080" cy="411480"/>
          </a:xfrm>
          <a:prstGeom prst="rect">
            <a:avLst/>
          </a:prstGeom>
          <a:noFill/>
          <a:ln/>
        </p:spPr>
        <p:txBody>
          <a:bodyPr wrap="square" rtlCol="0" anchor="ctr"/>
          <a:lstStyle/>
          <a:p>
            <a:pPr marL="0" indent="0">
              <a:buNone/>
            </a:pPr>
            <a:r>
              <a:rPr lang="en-US" sz="1600" b="1" dirty="0">
                <a:solidFill>
                  <a:srgbClr val="0D1B2A"/>
                </a:solidFill>
                <a:latin typeface="Calibri" pitchFamily="34" charset="0"/>
                <a:ea typeface="Calibri" pitchFamily="34" charset="-122"/>
                <a:cs typeface="Calibri" pitchFamily="34" charset="-120"/>
              </a:rPr>
              <a:t>Normal</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8090"/>
          </a:solidFill>
          <a:ln w="12700">
            <a:solidFill>
              <a:srgbClr val="028090"/>
            </a:solidFill>
            <a:prstDash val="solid"/>
          </a:ln>
        </p:spPr>
        <p:txBody>
          <a:bodyPr/>
          <a:lstStyle/>
          <a:p>
            <a:endParaRPr lang="en-IN"/>
          </a:p>
        </p:txBody>
      </p:sp>
      <p:sp>
        <p:nvSpPr>
          <p:cNvPr id="3" name="Text 1"/>
          <p:cNvSpPr/>
          <p:nvPr/>
        </p:nvSpPr>
        <p:spPr>
          <a:xfrm>
            <a:off x="365760" y="0"/>
            <a:ext cx="8229600" cy="82296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Objectives</a:t>
            </a:r>
            <a:endParaRPr lang="en-US" sz="2600" dirty="0"/>
          </a:p>
        </p:txBody>
      </p:sp>
      <p:sp>
        <p:nvSpPr>
          <p:cNvPr id="4" name="Shape 2"/>
          <p:cNvSpPr/>
          <p:nvPr/>
        </p:nvSpPr>
        <p:spPr>
          <a:xfrm>
            <a:off x="274320" y="1005840"/>
            <a:ext cx="4206240" cy="109728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5" name="Shape 3"/>
          <p:cNvSpPr/>
          <p:nvPr/>
        </p:nvSpPr>
        <p:spPr>
          <a:xfrm>
            <a:off x="274320" y="1005840"/>
            <a:ext cx="548640" cy="1097280"/>
          </a:xfrm>
          <a:prstGeom prst="rect">
            <a:avLst/>
          </a:prstGeom>
          <a:solidFill>
            <a:srgbClr val="028090"/>
          </a:solidFill>
          <a:ln w="12700">
            <a:solidFill>
              <a:srgbClr val="028090"/>
            </a:solidFill>
            <a:prstDash val="solid"/>
          </a:ln>
        </p:spPr>
        <p:txBody>
          <a:bodyPr/>
          <a:lstStyle/>
          <a:p>
            <a:endParaRPr lang="en-IN"/>
          </a:p>
        </p:txBody>
      </p:sp>
      <p:sp>
        <p:nvSpPr>
          <p:cNvPr id="6" name="Text 4"/>
          <p:cNvSpPr/>
          <p:nvPr/>
        </p:nvSpPr>
        <p:spPr>
          <a:xfrm>
            <a:off x="274320" y="1005840"/>
            <a:ext cx="548640" cy="1097280"/>
          </a:xfrm>
          <a:prstGeom prst="rect">
            <a:avLst/>
          </a:prstGeom>
          <a:noFill/>
          <a:ln/>
        </p:spPr>
        <p:txBody>
          <a:bodyPr wrap="square" rtlCol="0" anchor="ctr"/>
          <a:lstStyle/>
          <a:p>
            <a:pPr marL="0" indent="0" algn="ctr">
              <a:buNone/>
            </a:pPr>
            <a:r>
              <a:rPr lang="en-US" sz="1600" b="1" dirty="0">
                <a:solidFill>
                  <a:srgbClr val="FFFFFF"/>
                </a:solidFill>
              </a:rPr>
              <a:t>01</a:t>
            </a:r>
            <a:endParaRPr lang="en-US" sz="1600" dirty="0"/>
          </a:p>
        </p:txBody>
      </p:sp>
      <p:sp>
        <p:nvSpPr>
          <p:cNvPr id="7" name="Text 5"/>
          <p:cNvSpPr/>
          <p:nvPr/>
        </p:nvSpPr>
        <p:spPr>
          <a:xfrm>
            <a:off x="960120" y="1097280"/>
            <a:ext cx="3383280" cy="914400"/>
          </a:xfrm>
          <a:prstGeom prst="rect">
            <a:avLst/>
          </a:prstGeom>
          <a:noFill/>
          <a:ln/>
        </p:spPr>
        <p:txBody>
          <a:bodyPr wrap="square" rtlCol="0" anchor="ctr"/>
          <a:lstStyle/>
          <a:p>
            <a:pPr marL="0" indent="0">
              <a:lnSpc>
                <a:spcPct val="130000"/>
              </a:lnSpc>
              <a:buNone/>
            </a:pPr>
            <a:r>
              <a:rPr lang="en-US" sz="1200" dirty="0">
                <a:solidFill>
                  <a:srgbClr val="0D1B2A"/>
                </a:solidFill>
                <a:latin typeface="Calibri" pitchFamily="34" charset="0"/>
                <a:ea typeface="Calibri" pitchFamily="34" charset="-122"/>
                <a:cs typeface="Calibri" pitchFamily="34" charset="-120"/>
              </a:rPr>
              <a:t>Classify social media posts into Depression, Anxiety, PTSD, and Normal categories</a:t>
            </a:r>
            <a:endParaRPr lang="en-US" sz="1200" dirty="0"/>
          </a:p>
        </p:txBody>
      </p:sp>
      <p:sp>
        <p:nvSpPr>
          <p:cNvPr id="8" name="Shape 6"/>
          <p:cNvSpPr/>
          <p:nvPr/>
        </p:nvSpPr>
        <p:spPr>
          <a:xfrm>
            <a:off x="274320" y="2286000"/>
            <a:ext cx="4206240" cy="109728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9" name="Shape 7"/>
          <p:cNvSpPr/>
          <p:nvPr/>
        </p:nvSpPr>
        <p:spPr>
          <a:xfrm>
            <a:off x="274320" y="2286000"/>
            <a:ext cx="548640" cy="1097280"/>
          </a:xfrm>
          <a:prstGeom prst="rect">
            <a:avLst/>
          </a:prstGeom>
          <a:solidFill>
            <a:srgbClr val="028090"/>
          </a:solidFill>
          <a:ln w="12700">
            <a:solidFill>
              <a:srgbClr val="028090"/>
            </a:solidFill>
            <a:prstDash val="solid"/>
          </a:ln>
        </p:spPr>
        <p:txBody>
          <a:bodyPr/>
          <a:lstStyle/>
          <a:p>
            <a:endParaRPr lang="en-IN"/>
          </a:p>
        </p:txBody>
      </p:sp>
      <p:sp>
        <p:nvSpPr>
          <p:cNvPr id="10" name="Text 8"/>
          <p:cNvSpPr/>
          <p:nvPr/>
        </p:nvSpPr>
        <p:spPr>
          <a:xfrm>
            <a:off x="274320" y="2286000"/>
            <a:ext cx="548640" cy="1097280"/>
          </a:xfrm>
          <a:prstGeom prst="rect">
            <a:avLst/>
          </a:prstGeom>
          <a:noFill/>
          <a:ln/>
        </p:spPr>
        <p:txBody>
          <a:bodyPr wrap="square" rtlCol="0" anchor="ctr"/>
          <a:lstStyle/>
          <a:p>
            <a:pPr marL="0" indent="0" algn="ctr">
              <a:buNone/>
            </a:pPr>
            <a:r>
              <a:rPr lang="en-US" sz="1600" b="1" dirty="0">
                <a:solidFill>
                  <a:srgbClr val="FFFFFF"/>
                </a:solidFill>
              </a:rPr>
              <a:t>02</a:t>
            </a:r>
            <a:endParaRPr lang="en-US" sz="1600" dirty="0"/>
          </a:p>
        </p:txBody>
      </p:sp>
      <p:sp>
        <p:nvSpPr>
          <p:cNvPr id="11" name="Text 9"/>
          <p:cNvSpPr/>
          <p:nvPr/>
        </p:nvSpPr>
        <p:spPr>
          <a:xfrm>
            <a:off x="960120" y="2377440"/>
            <a:ext cx="3383280" cy="914400"/>
          </a:xfrm>
          <a:prstGeom prst="rect">
            <a:avLst/>
          </a:prstGeom>
          <a:noFill/>
          <a:ln/>
        </p:spPr>
        <p:txBody>
          <a:bodyPr wrap="square" rtlCol="0" anchor="ctr"/>
          <a:lstStyle/>
          <a:p>
            <a:pPr marL="0" indent="0">
              <a:lnSpc>
                <a:spcPct val="130000"/>
              </a:lnSpc>
              <a:buNone/>
            </a:pPr>
            <a:r>
              <a:rPr lang="en-US" sz="1200" dirty="0">
                <a:solidFill>
                  <a:srgbClr val="0D1B2A"/>
                </a:solidFill>
                <a:latin typeface="Calibri" pitchFamily="34" charset="0"/>
                <a:ea typeface="Calibri" pitchFamily="34" charset="-122"/>
                <a:cs typeface="Calibri" pitchFamily="34" charset="-120"/>
              </a:rPr>
              <a:t>Perform text preprocessing with anonymization and ethical data handling</a:t>
            </a:r>
            <a:endParaRPr lang="en-US" sz="1200" dirty="0"/>
          </a:p>
        </p:txBody>
      </p:sp>
      <p:sp>
        <p:nvSpPr>
          <p:cNvPr id="12" name="Shape 10"/>
          <p:cNvSpPr/>
          <p:nvPr/>
        </p:nvSpPr>
        <p:spPr>
          <a:xfrm>
            <a:off x="274320" y="3566160"/>
            <a:ext cx="4206240" cy="109728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13" name="Shape 11"/>
          <p:cNvSpPr/>
          <p:nvPr/>
        </p:nvSpPr>
        <p:spPr>
          <a:xfrm>
            <a:off x="274320" y="3566160"/>
            <a:ext cx="548640" cy="1097280"/>
          </a:xfrm>
          <a:prstGeom prst="rect">
            <a:avLst/>
          </a:prstGeom>
          <a:solidFill>
            <a:srgbClr val="028090"/>
          </a:solidFill>
          <a:ln w="12700">
            <a:solidFill>
              <a:srgbClr val="028090"/>
            </a:solidFill>
            <a:prstDash val="solid"/>
          </a:ln>
        </p:spPr>
        <p:txBody>
          <a:bodyPr/>
          <a:lstStyle/>
          <a:p>
            <a:endParaRPr lang="en-IN"/>
          </a:p>
        </p:txBody>
      </p:sp>
      <p:sp>
        <p:nvSpPr>
          <p:cNvPr id="14" name="Text 12"/>
          <p:cNvSpPr/>
          <p:nvPr/>
        </p:nvSpPr>
        <p:spPr>
          <a:xfrm>
            <a:off x="274320" y="3566160"/>
            <a:ext cx="548640" cy="1097280"/>
          </a:xfrm>
          <a:prstGeom prst="rect">
            <a:avLst/>
          </a:prstGeom>
          <a:noFill/>
          <a:ln/>
        </p:spPr>
        <p:txBody>
          <a:bodyPr wrap="square" rtlCol="0" anchor="ctr"/>
          <a:lstStyle/>
          <a:p>
            <a:pPr marL="0" indent="0" algn="ctr">
              <a:buNone/>
            </a:pPr>
            <a:r>
              <a:rPr lang="en-US" sz="1600" b="1" dirty="0">
                <a:solidFill>
                  <a:srgbClr val="FFFFFF"/>
                </a:solidFill>
              </a:rPr>
              <a:t>03</a:t>
            </a:r>
            <a:endParaRPr lang="en-US" sz="1600" dirty="0"/>
          </a:p>
        </p:txBody>
      </p:sp>
      <p:sp>
        <p:nvSpPr>
          <p:cNvPr id="15" name="Text 13"/>
          <p:cNvSpPr/>
          <p:nvPr/>
        </p:nvSpPr>
        <p:spPr>
          <a:xfrm>
            <a:off x="960120" y="3657600"/>
            <a:ext cx="3383280" cy="914400"/>
          </a:xfrm>
          <a:prstGeom prst="rect">
            <a:avLst/>
          </a:prstGeom>
          <a:noFill/>
          <a:ln/>
        </p:spPr>
        <p:txBody>
          <a:bodyPr wrap="square" rtlCol="0" anchor="ctr"/>
          <a:lstStyle/>
          <a:p>
            <a:pPr marL="0" indent="0">
              <a:lnSpc>
                <a:spcPct val="130000"/>
              </a:lnSpc>
              <a:buNone/>
            </a:pPr>
            <a:r>
              <a:rPr lang="en-US" sz="1200" dirty="0">
                <a:solidFill>
                  <a:srgbClr val="0D1B2A"/>
                </a:solidFill>
                <a:latin typeface="Calibri" pitchFamily="34" charset="0"/>
                <a:ea typeface="Calibri" pitchFamily="34" charset="-122"/>
                <a:cs typeface="Calibri" pitchFamily="34" charset="-120"/>
              </a:rPr>
              <a:t>Build and compare TF-IDF + SVM baseline with fine-tuned BERT model</a:t>
            </a:r>
            <a:endParaRPr lang="en-US" sz="1200" dirty="0"/>
          </a:p>
        </p:txBody>
      </p:sp>
      <p:sp>
        <p:nvSpPr>
          <p:cNvPr id="16" name="Shape 14"/>
          <p:cNvSpPr/>
          <p:nvPr/>
        </p:nvSpPr>
        <p:spPr>
          <a:xfrm>
            <a:off x="4663440" y="1005840"/>
            <a:ext cx="4206240" cy="109728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17" name="Shape 15"/>
          <p:cNvSpPr/>
          <p:nvPr/>
        </p:nvSpPr>
        <p:spPr>
          <a:xfrm>
            <a:off x="4663440" y="1005840"/>
            <a:ext cx="548640" cy="1097280"/>
          </a:xfrm>
          <a:prstGeom prst="rect">
            <a:avLst/>
          </a:prstGeom>
          <a:solidFill>
            <a:srgbClr val="028090"/>
          </a:solidFill>
          <a:ln w="12700">
            <a:solidFill>
              <a:srgbClr val="028090"/>
            </a:solidFill>
            <a:prstDash val="solid"/>
          </a:ln>
        </p:spPr>
        <p:txBody>
          <a:bodyPr/>
          <a:lstStyle/>
          <a:p>
            <a:endParaRPr lang="en-IN"/>
          </a:p>
        </p:txBody>
      </p:sp>
      <p:sp>
        <p:nvSpPr>
          <p:cNvPr id="18" name="Text 16"/>
          <p:cNvSpPr/>
          <p:nvPr/>
        </p:nvSpPr>
        <p:spPr>
          <a:xfrm>
            <a:off x="4663440" y="1005840"/>
            <a:ext cx="548640" cy="1097280"/>
          </a:xfrm>
          <a:prstGeom prst="rect">
            <a:avLst/>
          </a:prstGeom>
          <a:noFill/>
          <a:ln/>
        </p:spPr>
        <p:txBody>
          <a:bodyPr wrap="square" rtlCol="0" anchor="ctr"/>
          <a:lstStyle/>
          <a:p>
            <a:pPr marL="0" indent="0" algn="ctr">
              <a:buNone/>
            </a:pPr>
            <a:r>
              <a:rPr lang="en-US" sz="1600" b="1" dirty="0">
                <a:solidFill>
                  <a:srgbClr val="FFFFFF"/>
                </a:solidFill>
              </a:rPr>
              <a:t>04</a:t>
            </a:r>
            <a:endParaRPr lang="en-US" sz="1600" dirty="0"/>
          </a:p>
        </p:txBody>
      </p:sp>
      <p:sp>
        <p:nvSpPr>
          <p:cNvPr id="19" name="Text 17"/>
          <p:cNvSpPr/>
          <p:nvPr/>
        </p:nvSpPr>
        <p:spPr>
          <a:xfrm>
            <a:off x="5349240" y="1097280"/>
            <a:ext cx="3383280" cy="914400"/>
          </a:xfrm>
          <a:prstGeom prst="rect">
            <a:avLst/>
          </a:prstGeom>
          <a:noFill/>
          <a:ln/>
        </p:spPr>
        <p:txBody>
          <a:bodyPr wrap="square" rtlCol="0" anchor="ctr"/>
          <a:lstStyle/>
          <a:p>
            <a:pPr marL="0" indent="0">
              <a:lnSpc>
                <a:spcPct val="130000"/>
              </a:lnSpc>
              <a:buNone/>
            </a:pPr>
            <a:r>
              <a:rPr lang="en-US" sz="1200" dirty="0">
                <a:solidFill>
                  <a:srgbClr val="0D1B2A"/>
                </a:solidFill>
                <a:latin typeface="Calibri" pitchFamily="34" charset="0"/>
                <a:ea typeface="Calibri" pitchFamily="34" charset="-122"/>
                <a:cs typeface="Calibri" pitchFamily="34" charset="-120"/>
              </a:rPr>
              <a:t>Evaluate using sensitivity, specificity, F1-score and confusion matrices</a:t>
            </a:r>
            <a:endParaRPr lang="en-US" sz="1200" dirty="0"/>
          </a:p>
        </p:txBody>
      </p:sp>
      <p:sp>
        <p:nvSpPr>
          <p:cNvPr id="20" name="Shape 18"/>
          <p:cNvSpPr/>
          <p:nvPr/>
        </p:nvSpPr>
        <p:spPr>
          <a:xfrm>
            <a:off x="4663440" y="2286000"/>
            <a:ext cx="4206240" cy="109728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21" name="Shape 19"/>
          <p:cNvSpPr/>
          <p:nvPr/>
        </p:nvSpPr>
        <p:spPr>
          <a:xfrm>
            <a:off x="4663440" y="2286000"/>
            <a:ext cx="548640" cy="1097280"/>
          </a:xfrm>
          <a:prstGeom prst="rect">
            <a:avLst/>
          </a:prstGeom>
          <a:solidFill>
            <a:srgbClr val="028090"/>
          </a:solidFill>
          <a:ln w="12700">
            <a:solidFill>
              <a:srgbClr val="028090"/>
            </a:solidFill>
            <a:prstDash val="solid"/>
          </a:ln>
        </p:spPr>
        <p:txBody>
          <a:bodyPr/>
          <a:lstStyle/>
          <a:p>
            <a:endParaRPr lang="en-IN"/>
          </a:p>
        </p:txBody>
      </p:sp>
      <p:sp>
        <p:nvSpPr>
          <p:cNvPr id="22" name="Text 20"/>
          <p:cNvSpPr/>
          <p:nvPr/>
        </p:nvSpPr>
        <p:spPr>
          <a:xfrm>
            <a:off x="4663440" y="2286000"/>
            <a:ext cx="548640" cy="1097280"/>
          </a:xfrm>
          <a:prstGeom prst="rect">
            <a:avLst/>
          </a:prstGeom>
          <a:noFill/>
          <a:ln/>
        </p:spPr>
        <p:txBody>
          <a:bodyPr wrap="square" rtlCol="0" anchor="ctr"/>
          <a:lstStyle/>
          <a:p>
            <a:pPr marL="0" indent="0" algn="ctr">
              <a:buNone/>
            </a:pPr>
            <a:r>
              <a:rPr lang="en-US" sz="1600" b="1" dirty="0">
                <a:solidFill>
                  <a:srgbClr val="FFFFFF"/>
                </a:solidFill>
              </a:rPr>
              <a:t>05</a:t>
            </a:r>
            <a:endParaRPr lang="en-US" sz="1600" dirty="0"/>
          </a:p>
        </p:txBody>
      </p:sp>
      <p:sp>
        <p:nvSpPr>
          <p:cNvPr id="23" name="Text 21"/>
          <p:cNvSpPr/>
          <p:nvPr/>
        </p:nvSpPr>
        <p:spPr>
          <a:xfrm>
            <a:off x="5349240" y="2377440"/>
            <a:ext cx="3383280" cy="914400"/>
          </a:xfrm>
          <a:prstGeom prst="rect">
            <a:avLst/>
          </a:prstGeom>
          <a:noFill/>
          <a:ln/>
        </p:spPr>
        <p:txBody>
          <a:bodyPr wrap="square" rtlCol="0" anchor="ctr"/>
          <a:lstStyle/>
          <a:p>
            <a:pPr marL="0" indent="0">
              <a:lnSpc>
                <a:spcPct val="130000"/>
              </a:lnSpc>
              <a:buNone/>
            </a:pPr>
            <a:r>
              <a:rPr lang="en-US" sz="1200" dirty="0">
                <a:solidFill>
                  <a:srgbClr val="0D1B2A"/>
                </a:solidFill>
                <a:latin typeface="Calibri" pitchFamily="34" charset="0"/>
                <a:ea typeface="Calibri" pitchFamily="34" charset="-122"/>
                <a:cs typeface="Calibri" pitchFamily="34" charset="-120"/>
              </a:rPr>
              <a:t>Discuss real-world potential for early mental health intervention tools</a:t>
            </a:r>
            <a:endParaRPr lang="en-US" sz="1200" dirty="0"/>
          </a:p>
        </p:txBody>
      </p:sp>
      <p:sp>
        <p:nvSpPr>
          <p:cNvPr id="24" name="Shape 22"/>
          <p:cNvSpPr/>
          <p:nvPr/>
        </p:nvSpPr>
        <p:spPr>
          <a:xfrm>
            <a:off x="4663440" y="3566160"/>
            <a:ext cx="4206240" cy="109728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25" name="Shape 23"/>
          <p:cNvSpPr/>
          <p:nvPr/>
        </p:nvSpPr>
        <p:spPr>
          <a:xfrm>
            <a:off x="4663440" y="3566160"/>
            <a:ext cx="548640" cy="1097280"/>
          </a:xfrm>
          <a:prstGeom prst="rect">
            <a:avLst/>
          </a:prstGeom>
          <a:solidFill>
            <a:srgbClr val="028090"/>
          </a:solidFill>
          <a:ln w="12700">
            <a:solidFill>
              <a:srgbClr val="028090"/>
            </a:solidFill>
            <a:prstDash val="solid"/>
          </a:ln>
        </p:spPr>
        <p:txBody>
          <a:bodyPr/>
          <a:lstStyle/>
          <a:p>
            <a:endParaRPr lang="en-IN"/>
          </a:p>
        </p:txBody>
      </p:sp>
      <p:sp>
        <p:nvSpPr>
          <p:cNvPr id="26" name="Text 24"/>
          <p:cNvSpPr/>
          <p:nvPr/>
        </p:nvSpPr>
        <p:spPr>
          <a:xfrm>
            <a:off x="4663440" y="3566160"/>
            <a:ext cx="548640" cy="1097280"/>
          </a:xfrm>
          <a:prstGeom prst="rect">
            <a:avLst/>
          </a:prstGeom>
          <a:noFill/>
          <a:ln/>
        </p:spPr>
        <p:txBody>
          <a:bodyPr wrap="square" rtlCol="0" anchor="ctr"/>
          <a:lstStyle/>
          <a:p>
            <a:pPr marL="0" indent="0" algn="ctr">
              <a:buNone/>
            </a:pPr>
            <a:r>
              <a:rPr lang="en-US" sz="1600" b="1" dirty="0">
                <a:solidFill>
                  <a:srgbClr val="FFFFFF"/>
                </a:solidFill>
              </a:rPr>
              <a:t>06</a:t>
            </a:r>
            <a:endParaRPr lang="en-US" sz="1600" dirty="0"/>
          </a:p>
        </p:txBody>
      </p:sp>
      <p:sp>
        <p:nvSpPr>
          <p:cNvPr id="27" name="Text 25"/>
          <p:cNvSpPr/>
          <p:nvPr/>
        </p:nvSpPr>
        <p:spPr>
          <a:xfrm>
            <a:off x="5349240" y="3657600"/>
            <a:ext cx="3383280" cy="914400"/>
          </a:xfrm>
          <a:prstGeom prst="rect">
            <a:avLst/>
          </a:prstGeom>
          <a:noFill/>
          <a:ln/>
        </p:spPr>
        <p:txBody>
          <a:bodyPr wrap="square" rtlCol="0" anchor="ctr"/>
          <a:lstStyle/>
          <a:p>
            <a:pPr marL="0" indent="0">
              <a:lnSpc>
                <a:spcPct val="130000"/>
              </a:lnSpc>
              <a:buNone/>
            </a:pPr>
            <a:r>
              <a:rPr lang="en-US" sz="1200" dirty="0">
                <a:solidFill>
                  <a:srgbClr val="0D1B2A"/>
                </a:solidFill>
                <a:latin typeface="Calibri" pitchFamily="34" charset="0"/>
                <a:ea typeface="Calibri" pitchFamily="34" charset="-122"/>
                <a:cs typeface="Calibri" pitchFamily="34" charset="-120"/>
              </a:rPr>
              <a:t>Address privacy, consent, and ethical risks of deploying such systems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65760" y="0"/>
            <a:ext cx="8229600" cy="82296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Dataset</a:t>
            </a:r>
            <a:endParaRPr lang="en-US" sz="2600" dirty="0"/>
          </a:p>
        </p:txBody>
      </p:sp>
      <p:sp>
        <p:nvSpPr>
          <p:cNvPr id="4" name="Shape 2"/>
          <p:cNvSpPr/>
          <p:nvPr/>
        </p:nvSpPr>
        <p:spPr>
          <a:xfrm>
            <a:off x="274320" y="1005840"/>
            <a:ext cx="2743200" cy="1828800"/>
          </a:xfrm>
          <a:prstGeom prst="rect">
            <a:avLst/>
          </a:prstGeom>
          <a:solidFill>
            <a:srgbClr val="028090"/>
          </a:solidFill>
          <a:ln w="12700">
            <a:solidFill>
              <a:srgbClr val="028090"/>
            </a:solidFill>
            <a:prstDash val="solid"/>
          </a:ln>
          <a:effectLst>
            <a:outerShdw blurRad="101600" dist="25400" dir="8100000" algn="bl" rotWithShape="0">
              <a:srgbClr val="000000">
                <a:alpha val="10000"/>
              </a:srgbClr>
            </a:outerShdw>
          </a:effectLst>
        </p:spPr>
        <p:txBody>
          <a:bodyPr/>
          <a:lstStyle/>
          <a:p>
            <a:endParaRPr lang="en-IN"/>
          </a:p>
        </p:txBody>
      </p:sp>
      <p:sp>
        <p:nvSpPr>
          <p:cNvPr id="5" name="Text 3"/>
          <p:cNvSpPr/>
          <p:nvPr/>
        </p:nvSpPr>
        <p:spPr>
          <a:xfrm>
            <a:off x="274320" y="1188720"/>
            <a:ext cx="2743200" cy="91440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2,060</a:t>
            </a:r>
            <a:endParaRPr lang="en-US" sz="4400" dirty="0"/>
          </a:p>
        </p:txBody>
      </p:sp>
      <p:sp>
        <p:nvSpPr>
          <p:cNvPr id="6" name="Text 4"/>
          <p:cNvSpPr/>
          <p:nvPr/>
        </p:nvSpPr>
        <p:spPr>
          <a:xfrm>
            <a:off x="274320" y="2103120"/>
            <a:ext cx="2743200" cy="45720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Total Test Samples</a:t>
            </a:r>
            <a:endParaRPr lang="en-US" sz="1300" dirty="0"/>
          </a:p>
        </p:txBody>
      </p:sp>
      <p:sp>
        <p:nvSpPr>
          <p:cNvPr id="7" name="Shape 5"/>
          <p:cNvSpPr/>
          <p:nvPr/>
        </p:nvSpPr>
        <p:spPr>
          <a:xfrm>
            <a:off x="3291840" y="1005840"/>
            <a:ext cx="2286000" cy="182880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8" name="Text 6"/>
          <p:cNvSpPr/>
          <p:nvPr/>
        </p:nvSpPr>
        <p:spPr>
          <a:xfrm>
            <a:off x="3429000" y="1143000"/>
            <a:ext cx="2011680" cy="320040"/>
          </a:xfrm>
          <a:prstGeom prst="rect">
            <a:avLst/>
          </a:prstGeom>
          <a:noFill/>
          <a:ln/>
        </p:spPr>
        <p:txBody>
          <a:bodyPr wrap="square" rtlCol="0" anchor="ctr"/>
          <a:lstStyle/>
          <a:p>
            <a:pPr marL="0" indent="0">
              <a:buNone/>
            </a:pPr>
            <a:r>
              <a:rPr lang="en-US" sz="1300" b="1" dirty="0">
                <a:solidFill>
                  <a:srgbClr val="028090"/>
                </a:solidFill>
              </a:rPr>
              <a:t>Source</a:t>
            </a:r>
            <a:endParaRPr lang="en-US" sz="1300" dirty="0"/>
          </a:p>
        </p:txBody>
      </p:sp>
      <p:sp>
        <p:nvSpPr>
          <p:cNvPr id="9" name="Text 7"/>
          <p:cNvSpPr/>
          <p:nvPr/>
        </p:nvSpPr>
        <p:spPr>
          <a:xfrm>
            <a:off x="3429000" y="1463040"/>
            <a:ext cx="2011680" cy="1188720"/>
          </a:xfrm>
          <a:prstGeom prst="rect">
            <a:avLst/>
          </a:prstGeom>
          <a:noFill/>
          <a:ln/>
        </p:spPr>
        <p:txBody>
          <a:bodyPr wrap="square" rtlCol="0" anchor="ctr"/>
          <a:lstStyle/>
          <a:p>
            <a:pPr marL="0" indent="0">
              <a:lnSpc>
                <a:spcPct val="130000"/>
              </a:lnSpc>
              <a:buNone/>
            </a:pPr>
            <a:r>
              <a:rPr lang="en-US" sz="1200" dirty="0">
                <a:solidFill>
                  <a:srgbClr val="0D1B2A"/>
                </a:solidFill>
              </a:rPr>
              <a:t>Reddit posts from mental health-related subreddits</a:t>
            </a:r>
            <a:endParaRPr lang="en-US" sz="1200" dirty="0"/>
          </a:p>
        </p:txBody>
      </p:sp>
      <p:sp>
        <p:nvSpPr>
          <p:cNvPr id="10" name="Shape 8"/>
          <p:cNvSpPr/>
          <p:nvPr/>
        </p:nvSpPr>
        <p:spPr>
          <a:xfrm>
            <a:off x="5852160" y="1005840"/>
            <a:ext cx="3017520" cy="182880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11" name="Text 9"/>
          <p:cNvSpPr/>
          <p:nvPr/>
        </p:nvSpPr>
        <p:spPr>
          <a:xfrm>
            <a:off x="6035040" y="1143000"/>
            <a:ext cx="2651760" cy="320040"/>
          </a:xfrm>
          <a:prstGeom prst="rect">
            <a:avLst/>
          </a:prstGeom>
          <a:noFill/>
          <a:ln/>
        </p:spPr>
        <p:txBody>
          <a:bodyPr wrap="square" rtlCol="0" anchor="ctr"/>
          <a:lstStyle/>
          <a:p>
            <a:pPr marL="0" indent="0">
              <a:buNone/>
            </a:pPr>
            <a:r>
              <a:rPr lang="en-US" sz="1300" b="1" dirty="0">
                <a:solidFill>
                  <a:srgbClr val="028090"/>
                </a:solidFill>
              </a:rPr>
              <a:t>Key Columns</a:t>
            </a:r>
            <a:endParaRPr lang="en-US" sz="1300" dirty="0"/>
          </a:p>
        </p:txBody>
      </p:sp>
      <p:sp>
        <p:nvSpPr>
          <p:cNvPr id="12" name="Text 10"/>
          <p:cNvSpPr/>
          <p:nvPr/>
        </p:nvSpPr>
        <p:spPr>
          <a:xfrm>
            <a:off x="6035040" y="1508760"/>
            <a:ext cx="2651760" cy="1188720"/>
          </a:xfrm>
          <a:prstGeom prst="rect">
            <a:avLst/>
          </a:prstGeom>
          <a:noFill/>
          <a:ln/>
        </p:spPr>
        <p:txBody>
          <a:bodyPr wrap="square" rtlCol="0" anchor="ctr"/>
          <a:lstStyle/>
          <a:p>
            <a:pPr marL="0" indent="0">
              <a:lnSpc>
                <a:spcPct val="150000"/>
              </a:lnSpc>
              <a:buNone/>
            </a:pPr>
            <a:r>
              <a:rPr lang="en-US" sz="1200" b="1" dirty="0">
                <a:solidFill>
                  <a:srgbClr val="028090"/>
                </a:solidFill>
              </a:rPr>
              <a:t>text  </a:t>
            </a:r>
            <a:r>
              <a:rPr lang="en-US" sz="1200" dirty="0">
                <a:solidFill>
                  <a:srgbClr val="0D1B2A"/>
                </a:solidFill>
              </a:rPr>
              <a:t>— Social media post content
</a:t>
            </a:r>
            <a:endParaRPr lang="en-US" sz="1200" dirty="0"/>
          </a:p>
          <a:p>
            <a:pPr marL="0" indent="0">
              <a:lnSpc>
                <a:spcPct val="150000"/>
              </a:lnSpc>
              <a:buNone/>
            </a:pPr>
            <a:r>
              <a:rPr lang="en-US" sz="1200" b="1" dirty="0">
                <a:solidFill>
                  <a:srgbClr val="028090"/>
                </a:solidFill>
              </a:rPr>
              <a:t>label  </a:t>
            </a:r>
            <a:r>
              <a:rPr lang="en-US" sz="1200" dirty="0">
                <a:solidFill>
                  <a:srgbClr val="0D1B2A"/>
                </a:solidFill>
              </a:rPr>
              <a:t>— Mental health category</a:t>
            </a:r>
            <a:endParaRPr lang="en-US" sz="1200" dirty="0"/>
          </a:p>
        </p:txBody>
      </p:sp>
      <p:sp>
        <p:nvSpPr>
          <p:cNvPr id="13" name="Text 11"/>
          <p:cNvSpPr/>
          <p:nvPr/>
        </p:nvSpPr>
        <p:spPr>
          <a:xfrm>
            <a:off x="274320" y="3017520"/>
            <a:ext cx="3657600" cy="320040"/>
          </a:xfrm>
          <a:prstGeom prst="rect">
            <a:avLst/>
          </a:prstGeom>
          <a:noFill/>
          <a:ln/>
        </p:spPr>
        <p:txBody>
          <a:bodyPr wrap="square" rtlCol="0" anchor="ctr"/>
          <a:lstStyle/>
          <a:p>
            <a:pPr marL="0" indent="0">
              <a:buNone/>
            </a:pPr>
            <a:r>
              <a:rPr lang="en-US" sz="1400" b="1" dirty="0">
                <a:solidFill>
                  <a:srgbClr val="0D1B2A"/>
                </a:solidFill>
              </a:rPr>
              <a:t>Label Mapping</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274320" y="3383280"/>
          <a:ext cx="4114800" cy="1447800"/>
        </p:xfrm>
        <a:graphic>
          <a:graphicData uri="http://schemas.openxmlformats.org/drawingml/2006/table">
            <a:tbl>
              <a:tblPr/>
              <a:tblGrid>
                <a:gridCol w="10972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Label</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2809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Category</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0">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Depression</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Anxiety</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PTSD</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Normal</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15" name="Chart 0"/>
          <p:cNvGraphicFramePr/>
          <p:nvPr/>
        </p:nvGraphicFramePr>
        <p:xfrm>
          <a:off x="4754880" y="2834640"/>
          <a:ext cx="4114800" cy="21488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8090"/>
          </a:solidFill>
          <a:ln w="12700">
            <a:solidFill>
              <a:srgbClr val="028090"/>
            </a:solidFill>
            <a:prstDash val="solid"/>
          </a:ln>
        </p:spPr>
        <p:txBody>
          <a:bodyPr/>
          <a:lstStyle/>
          <a:p>
            <a:endParaRPr lang="en-IN"/>
          </a:p>
        </p:txBody>
      </p:sp>
      <p:sp>
        <p:nvSpPr>
          <p:cNvPr id="3" name="Text 1"/>
          <p:cNvSpPr/>
          <p:nvPr/>
        </p:nvSpPr>
        <p:spPr>
          <a:xfrm>
            <a:off x="365760" y="0"/>
            <a:ext cx="8229600" cy="82296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Methodology</a:t>
            </a:r>
            <a:endParaRPr lang="en-US" sz="2600" dirty="0"/>
          </a:p>
        </p:txBody>
      </p:sp>
      <p:sp>
        <p:nvSpPr>
          <p:cNvPr id="4" name="Shape 2"/>
          <p:cNvSpPr/>
          <p:nvPr/>
        </p:nvSpPr>
        <p:spPr>
          <a:xfrm>
            <a:off x="228600" y="960120"/>
            <a:ext cx="2011680" cy="384048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5" name="Shape 3"/>
          <p:cNvSpPr/>
          <p:nvPr/>
        </p:nvSpPr>
        <p:spPr>
          <a:xfrm>
            <a:off x="228600" y="960120"/>
            <a:ext cx="2011680" cy="640080"/>
          </a:xfrm>
          <a:prstGeom prst="rect">
            <a:avLst/>
          </a:prstGeom>
          <a:solidFill>
            <a:srgbClr val="E53E3E"/>
          </a:solidFill>
          <a:ln w="12700">
            <a:solidFill>
              <a:srgbClr val="E53E3E"/>
            </a:solidFill>
            <a:prstDash val="solid"/>
          </a:ln>
        </p:spPr>
        <p:txBody>
          <a:bodyPr/>
          <a:lstStyle/>
          <a:p>
            <a:endParaRPr lang="en-IN"/>
          </a:p>
        </p:txBody>
      </p:sp>
      <p:sp>
        <p:nvSpPr>
          <p:cNvPr id="6" name="Text 4"/>
          <p:cNvSpPr/>
          <p:nvPr/>
        </p:nvSpPr>
        <p:spPr>
          <a:xfrm>
            <a:off x="228600" y="960120"/>
            <a:ext cx="2011680" cy="640080"/>
          </a:xfrm>
          <a:prstGeom prst="rect">
            <a:avLst/>
          </a:prstGeom>
          <a:noFill/>
          <a:ln/>
        </p:spPr>
        <p:txBody>
          <a:bodyPr wrap="square" rtlCol="0" anchor="ctr"/>
          <a:lstStyle/>
          <a:p>
            <a:pPr marL="0" indent="0" algn="ctr">
              <a:buNone/>
            </a:pPr>
            <a:r>
              <a:rPr lang="en-US" sz="2800" b="1" dirty="0">
                <a:solidFill>
                  <a:srgbClr val="FFFFFF"/>
                </a:solidFill>
              </a:rPr>
              <a:t>1</a:t>
            </a:r>
            <a:endParaRPr lang="en-US" sz="2800" dirty="0"/>
          </a:p>
        </p:txBody>
      </p:sp>
      <p:sp>
        <p:nvSpPr>
          <p:cNvPr id="7" name="Text 5"/>
          <p:cNvSpPr/>
          <p:nvPr/>
        </p:nvSpPr>
        <p:spPr>
          <a:xfrm>
            <a:off x="320040" y="1691640"/>
            <a:ext cx="1828800" cy="685800"/>
          </a:xfrm>
          <a:prstGeom prst="rect">
            <a:avLst/>
          </a:prstGeom>
          <a:noFill/>
          <a:ln/>
        </p:spPr>
        <p:txBody>
          <a:bodyPr wrap="square" rtlCol="0" anchor="ctr"/>
          <a:lstStyle/>
          <a:p>
            <a:pPr marL="0" indent="0" algn="ctr">
              <a:lnSpc>
                <a:spcPct val="120000"/>
              </a:lnSpc>
              <a:buNone/>
            </a:pPr>
            <a:r>
              <a:rPr lang="en-US" sz="1300" b="1" dirty="0">
                <a:solidFill>
                  <a:srgbClr val="0D1B2A"/>
                </a:solidFill>
              </a:rPr>
              <a:t>Data Collection</a:t>
            </a:r>
            <a:endParaRPr lang="en-US" sz="1300" dirty="0"/>
          </a:p>
          <a:p>
            <a:pPr marL="0" indent="0" algn="ctr">
              <a:lnSpc>
                <a:spcPct val="120000"/>
              </a:lnSpc>
              <a:buNone/>
            </a:pPr>
            <a:r>
              <a:rPr lang="en-US" sz="1300" b="1" dirty="0">
                <a:solidFill>
                  <a:srgbClr val="0D1B2A"/>
                </a:solidFill>
              </a:rPr>
              <a:t>&amp; Preprocessing</a:t>
            </a:r>
            <a:endParaRPr lang="en-US" sz="1300" dirty="0"/>
          </a:p>
        </p:txBody>
      </p:sp>
      <p:sp>
        <p:nvSpPr>
          <p:cNvPr id="8" name="Shape 6"/>
          <p:cNvSpPr/>
          <p:nvPr/>
        </p:nvSpPr>
        <p:spPr>
          <a:xfrm>
            <a:off x="365760" y="2468880"/>
            <a:ext cx="1737360" cy="292608"/>
          </a:xfrm>
          <a:prstGeom prst="rect">
            <a:avLst/>
          </a:prstGeom>
          <a:solidFill>
            <a:srgbClr val="E53E3E"/>
          </a:solidFill>
          <a:ln w="12700">
            <a:solidFill>
              <a:srgbClr val="E53E3E"/>
            </a:solidFill>
            <a:prstDash val="solid"/>
          </a:ln>
        </p:spPr>
        <p:txBody>
          <a:bodyPr/>
          <a:lstStyle/>
          <a:p>
            <a:endParaRPr lang="en-IN"/>
          </a:p>
        </p:txBody>
      </p:sp>
      <p:sp>
        <p:nvSpPr>
          <p:cNvPr id="9" name="Text 7"/>
          <p:cNvSpPr/>
          <p:nvPr/>
        </p:nvSpPr>
        <p:spPr>
          <a:xfrm>
            <a:off x="365760" y="2468880"/>
            <a:ext cx="1737360" cy="292608"/>
          </a:xfrm>
          <a:prstGeom prst="rect">
            <a:avLst/>
          </a:prstGeom>
          <a:noFill/>
          <a:ln/>
        </p:spPr>
        <p:txBody>
          <a:bodyPr wrap="square" rtlCol="0" anchor="ctr"/>
          <a:lstStyle/>
          <a:p>
            <a:pPr marL="0" indent="0" algn="ctr">
              <a:buNone/>
            </a:pPr>
            <a:r>
              <a:rPr lang="en-US" sz="1000" b="1" dirty="0">
                <a:solidFill>
                  <a:srgbClr val="FFFFFF"/>
                </a:solidFill>
              </a:rPr>
              <a:t>Member A</a:t>
            </a:r>
            <a:endParaRPr lang="en-US" sz="1000" dirty="0"/>
          </a:p>
        </p:txBody>
      </p:sp>
      <p:sp>
        <p:nvSpPr>
          <p:cNvPr id="10" name="Text 8"/>
          <p:cNvSpPr/>
          <p:nvPr/>
        </p:nvSpPr>
        <p:spPr>
          <a:xfrm>
            <a:off x="320040" y="2834640"/>
            <a:ext cx="1828800" cy="1828800"/>
          </a:xfrm>
          <a:prstGeom prst="rect">
            <a:avLst/>
          </a:prstGeom>
          <a:noFill/>
          <a:ln/>
        </p:spPr>
        <p:txBody>
          <a:bodyPr wrap="square" rtlCol="0" anchor="ctr"/>
          <a:lstStyle/>
          <a:p>
            <a:pPr marL="0" indent="0">
              <a:lnSpc>
                <a:spcPct val="140000"/>
              </a:lnSpc>
              <a:buNone/>
            </a:pPr>
            <a:r>
              <a:rPr lang="en-US" sz="1100" dirty="0">
                <a:solidFill>
                  <a:srgbClr val="64748B"/>
                </a:solidFill>
              </a:rPr>
              <a:t>Reddit posts collected</a:t>
            </a:r>
            <a:endParaRPr lang="en-US" sz="1100" dirty="0"/>
          </a:p>
          <a:p>
            <a:pPr marL="0" indent="0">
              <a:lnSpc>
                <a:spcPct val="140000"/>
              </a:lnSpc>
              <a:buNone/>
            </a:pPr>
            <a:r>
              <a:rPr lang="en-US" sz="1100" dirty="0">
                <a:solidFill>
                  <a:srgbClr val="64748B"/>
                </a:solidFill>
              </a:rPr>
              <a:t>URLs, special chars removed</a:t>
            </a:r>
            <a:endParaRPr lang="en-US" sz="1100" dirty="0"/>
          </a:p>
          <a:p>
            <a:pPr marL="0" indent="0">
              <a:lnSpc>
                <a:spcPct val="140000"/>
              </a:lnSpc>
              <a:buNone/>
            </a:pPr>
            <a:r>
              <a:rPr lang="en-US" sz="1100" dirty="0">
                <a:solidFill>
                  <a:srgbClr val="64748B"/>
                </a:solidFill>
              </a:rPr>
              <a:t>Anonymization applied</a:t>
            </a:r>
            <a:endParaRPr lang="en-US" sz="1100" dirty="0"/>
          </a:p>
          <a:p>
            <a:pPr marL="0" indent="0">
              <a:lnSpc>
                <a:spcPct val="140000"/>
              </a:lnSpc>
              <a:buNone/>
            </a:pPr>
            <a:r>
              <a:rPr lang="en-US" sz="1100" dirty="0">
                <a:solidFill>
                  <a:srgbClr val="64748B"/>
                </a:solidFill>
              </a:rPr>
              <a:t>Ethical data handling</a:t>
            </a:r>
            <a:endParaRPr lang="en-US" sz="1100" dirty="0"/>
          </a:p>
        </p:txBody>
      </p:sp>
      <p:sp>
        <p:nvSpPr>
          <p:cNvPr id="11" name="Shape 9"/>
          <p:cNvSpPr/>
          <p:nvPr/>
        </p:nvSpPr>
        <p:spPr>
          <a:xfrm>
            <a:off x="2258568" y="2651760"/>
            <a:ext cx="155448" cy="54864"/>
          </a:xfrm>
          <a:prstGeom prst="rect">
            <a:avLst/>
          </a:prstGeom>
          <a:solidFill>
            <a:srgbClr val="028090"/>
          </a:solidFill>
          <a:ln w="12700">
            <a:solidFill>
              <a:srgbClr val="028090"/>
            </a:solidFill>
            <a:prstDash val="solid"/>
          </a:ln>
        </p:spPr>
        <p:txBody>
          <a:bodyPr/>
          <a:lstStyle/>
          <a:p>
            <a:endParaRPr lang="en-IN"/>
          </a:p>
        </p:txBody>
      </p:sp>
      <p:sp>
        <p:nvSpPr>
          <p:cNvPr id="12" name="Shape 10"/>
          <p:cNvSpPr/>
          <p:nvPr/>
        </p:nvSpPr>
        <p:spPr>
          <a:xfrm>
            <a:off x="2441448" y="960120"/>
            <a:ext cx="2011680" cy="384048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13" name="Shape 11"/>
          <p:cNvSpPr/>
          <p:nvPr/>
        </p:nvSpPr>
        <p:spPr>
          <a:xfrm>
            <a:off x="2441448" y="960120"/>
            <a:ext cx="2011680" cy="640080"/>
          </a:xfrm>
          <a:prstGeom prst="rect">
            <a:avLst/>
          </a:prstGeom>
          <a:solidFill>
            <a:srgbClr val="D69E2E"/>
          </a:solidFill>
          <a:ln w="12700">
            <a:solidFill>
              <a:srgbClr val="D69E2E"/>
            </a:solidFill>
            <a:prstDash val="solid"/>
          </a:ln>
        </p:spPr>
        <p:txBody>
          <a:bodyPr/>
          <a:lstStyle/>
          <a:p>
            <a:endParaRPr lang="en-IN"/>
          </a:p>
        </p:txBody>
      </p:sp>
      <p:sp>
        <p:nvSpPr>
          <p:cNvPr id="14" name="Text 12"/>
          <p:cNvSpPr/>
          <p:nvPr/>
        </p:nvSpPr>
        <p:spPr>
          <a:xfrm>
            <a:off x="2441448" y="960120"/>
            <a:ext cx="2011680" cy="640080"/>
          </a:xfrm>
          <a:prstGeom prst="rect">
            <a:avLst/>
          </a:prstGeom>
          <a:noFill/>
          <a:ln/>
        </p:spPr>
        <p:txBody>
          <a:bodyPr wrap="square" rtlCol="0" anchor="ctr"/>
          <a:lstStyle/>
          <a:p>
            <a:pPr marL="0" indent="0" algn="ctr">
              <a:buNone/>
            </a:pPr>
            <a:r>
              <a:rPr lang="en-US" sz="2800" b="1" dirty="0">
                <a:solidFill>
                  <a:srgbClr val="FFFFFF"/>
                </a:solidFill>
              </a:rPr>
              <a:t>2</a:t>
            </a:r>
            <a:endParaRPr lang="en-US" sz="2800" dirty="0"/>
          </a:p>
        </p:txBody>
      </p:sp>
      <p:sp>
        <p:nvSpPr>
          <p:cNvPr id="15" name="Text 13"/>
          <p:cNvSpPr/>
          <p:nvPr/>
        </p:nvSpPr>
        <p:spPr>
          <a:xfrm>
            <a:off x="2532888" y="1691640"/>
            <a:ext cx="1828800" cy="685800"/>
          </a:xfrm>
          <a:prstGeom prst="rect">
            <a:avLst/>
          </a:prstGeom>
          <a:noFill/>
          <a:ln/>
        </p:spPr>
        <p:txBody>
          <a:bodyPr wrap="square" rtlCol="0" anchor="ctr"/>
          <a:lstStyle/>
          <a:p>
            <a:pPr marL="0" indent="0" algn="ctr">
              <a:lnSpc>
                <a:spcPct val="120000"/>
              </a:lnSpc>
              <a:buNone/>
            </a:pPr>
            <a:r>
              <a:rPr lang="en-US" sz="1300" b="1" dirty="0">
                <a:solidFill>
                  <a:srgbClr val="0D1B2A"/>
                </a:solidFill>
              </a:rPr>
              <a:t>Feature</a:t>
            </a:r>
            <a:endParaRPr lang="en-US" sz="1300" dirty="0"/>
          </a:p>
          <a:p>
            <a:pPr marL="0" indent="0" algn="ctr">
              <a:lnSpc>
                <a:spcPct val="120000"/>
              </a:lnSpc>
              <a:buNone/>
            </a:pPr>
            <a:r>
              <a:rPr lang="en-US" sz="1300" b="1" dirty="0">
                <a:solidFill>
                  <a:srgbClr val="0D1B2A"/>
                </a:solidFill>
              </a:rPr>
              <a:t>Extraction</a:t>
            </a:r>
            <a:endParaRPr lang="en-US" sz="1300" dirty="0"/>
          </a:p>
        </p:txBody>
      </p:sp>
      <p:sp>
        <p:nvSpPr>
          <p:cNvPr id="16" name="Shape 14"/>
          <p:cNvSpPr/>
          <p:nvPr/>
        </p:nvSpPr>
        <p:spPr>
          <a:xfrm>
            <a:off x="2578608" y="2468880"/>
            <a:ext cx="1737360" cy="292608"/>
          </a:xfrm>
          <a:prstGeom prst="rect">
            <a:avLst/>
          </a:prstGeom>
          <a:solidFill>
            <a:srgbClr val="D69E2E"/>
          </a:solidFill>
          <a:ln w="12700">
            <a:solidFill>
              <a:srgbClr val="D69E2E"/>
            </a:solidFill>
            <a:prstDash val="solid"/>
          </a:ln>
        </p:spPr>
        <p:txBody>
          <a:bodyPr/>
          <a:lstStyle/>
          <a:p>
            <a:endParaRPr lang="en-IN"/>
          </a:p>
        </p:txBody>
      </p:sp>
      <p:sp>
        <p:nvSpPr>
          <p:cNvPr id="17" name="Text 15"/>
          <p:cNvSpPr/>
          <p:nvPr/>
        </p:nvSpPr>
        <p:spPr>
          <a:xfrm>
            <a:off x="2578608" y="2468880"/>
            <a:ext cx="1737360" cy="292608"/>
          </a:xfrm>
          <a:prstGeom prst="rect">
            <a:avLst/>
          </a:prstGeom>
          <a:noFill/>
          <a:ln/>
        </p:spPr>
        <p:txBody>
          <a:bodyPr wrap="square" rtlCol="0" anchor="ctr"/>
          <a:lstStyle/>
          <a:p>
            <a:pPr marL="0" indent="0" algn="ctr">
              <a:buNone/>
            </a:pPr>
            <a:r>
              <a:rPr lang="en-US" sz="1000" b="1" dirty="0">
                <a:solidFill>
                  <a:srgbClr val="FFFFFF"/>
                </a:solidFill>
              </a:rPr>
              <a:t>Sebin George</a:t>
            </a:r>
            <a:endParaRPr lang="en-US" sz="1000" dirty="0"/>
          </a:p>
        </p:txBody>
      </p:sp>
      <p:sp>
        <p:nvSpPr>
          <p:cNvPr id="18" name="Text 16"/>
          <p:cNvSpPr/>
          <p:nvPr/>
        </p:nvSpPr>
        <p:spPr>
          <a:xfrm>
            <a:off x="2532888" y="2834640"/>
            <a:ext cx="1828800" cy="1828800"/>
          </a:xfrm>
          <a:prstGeom prst="rect">
            <a:avLst/>
          </a:prstGeom>
          <a:noFill/>
          <a:ln/>
        </p:spPr>
        <p:txBody>
          <a:bodyPr wrap="square" rtlCol="0" anchor="ctr"/>
          <a:lstStyle/>
          <a:p>
            <a:pPr marL="0" indent="0">
              <a:lnSpc>
                <a:spcPct val="140000"/>
              </a:lnSpc>
              <a:buNone/>
            </a:pPr>
            <a:r>
              <a:rPr lang="en-US" sz="1100" dirty="0">
                <a:solidFill>
                  <a:srgbClr val="64748B"/>
                </a:solidFill>
              </a:rPr>
              <a:t>TF-IDF vectorization</a:t>
            </a:r>
            <a:endParaRPr lang="en-US" sz="1100" dirty="0"/>
          </a:p>
          <a:p>
            <a:pPr marL="0" indent="0">
              <a:lnSpc>
                <a:spcPct val="140000"/>
              </a:lnSpc>
              <a:buNone/>
            </a:pPr>
            <a:r>
              <a:rPr lang="en-US" sz="1100" dirty="0">
                <a:solidFill>
                  <a:srgbClr val="64748B"/>
                </a:solidFill>
              </a:rPr>
              <a:t>BERT tokenization</a:t>
            </a:r>
            <a:endParaRPr lang="en-US" sz="1100" dirty="0"/>
          </a:p>
          <a:p>
            <a:pPr marL="0" indent="0">
              <a:lnSpc>
                <a:spcPct val="140000"/>
              </a:lnSpc>
              <a:buNone/>
            </a:pPr>
            <a:r>
              <a:rPr lang="en-US" sz="1100" dirty="0">
                <a:solidFill>
                  <a:srgbClr val="64748B"/>
                </a:solidFill>
              </a:rPr>
              <a:t>Stratified train-test split</a:t>
            </a:r>
            <a:endParaRPr lang="en-US" sz="1100" dirty="0"/>
          </a:p>
          <a:p>
            <a:pPr marL="0" indent="0">
              <a:lnSpc>
                <a:spcPct val="140000"/>
              </a:lnSpc>
              <a:buNone/>
            </a:pPr>
            <a:r>
              <a:rPr lang="en-US" sz="1100" dirty="0">
                <a:solidFill>
                  <a:srgbClr val="64748B"/>
                </a:solidFill>
              </a:rPr>
              <a:t>(80/20)</a:t>
            </a:r>
            <a:endParaRPr lang="en-US" sz="1100" dirty="0"/>
          </a:p>
        </p:txBody>
      </p:sp>
      <p:sp>
        <p:nvSpPr>
          <p:cNvPr id="19" name="Shape 17"/>
          <p:cNvSpPr/>
          <p:nvPr/>
        </p:nvSpPr>
        <p:spPr>
          <a:xfrm>
            <a:off x="4471416" y="2651760"/>
            <a:ext cx="155448" cy="54864"/>
          </a:xfrm>
          <a:prstGeom prst="rect">
            <a:avLst/>
          </a:prstGeom>
          <a:solidFill>
            <a:srgbClr val="028090"/>
          </a:solidFill>
          <a:ln w="12700">
            <a:solidFill>
              <a:srgbClr val="028090"/>
            </a:solidFill>
            <a:prstDash val="solid"/>
          </a:ln>
        </p:spPr>
        <p:txBody>
          <a:bodyPr/>
          <a:lstStyle/>
          <a:p>
            <a:endParaRPr lang="en-IN"/>
          </a:p>
        </p:txBody>
      </p:sp>
      <p:sp>
        <p:nvSpPr>
          <p:cNvPr id="20" name="Shape 18"/>
          <p:cNvSpPr/>
          <p:nvPr/>
        </p:nvSpPr>
        <p:spPr>
          <a:xfrm>
            <a:off x="4654296" y="960120"/>
            <a:ext cx="2011680" cy="384048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21" name="Shape 19"/>
          <p:cNvSpPr/>
          <p:nvPr/>
        </p:nvSpPr>
        <p:spPr>
          <a:xfrm>
            <a:off x="4654296" y="960120"/>
            <a:ext cx="2011680" cy="640080"/>
          </a:xfrm>
          <a:prstGeom prst="rect">
            <a:avLst/>
          </a:prstGeom>
          <a:solidFill>
            <a:srgbClr val="028090"/>
          </a:solidFill>
          <a:ln w="12700">
            <a:solidFill>
              <a:srgbClr val="028090"/>
            </a:solidFill>
            <a:prstDash val="solid"/>
          </a:ln>
        </p:spPr>
        <p:txBody>
          <a:bodyPr/>
          <a:lstStyle/>
          <a:p>
            <a:endParaRPr lang="en-IN"/>
          </a:p>
        </p:txBody>
      </p:sp>
      <p:sp>
        <p:nvSpPr>
          <p:cNvPr id="22" name="Text 20"/>
          <p:cNvSpPr/>
          <p:nvPr/>
        </p:nvSpPr>
        <p:spPr>
          <a:xfrm>
            <a:off x="4654296" y="960120"/>
            <a:ext cx="2011680" cy="640080"/>
          </a:xfrm>
          <a:prstGeom prst="rect">
            <a:avLst/>
          </a:prstGeom>
          <a:noFill/>
          <a:ln/>
        </p:spPr>
        <p:txBody>
          <a:bodyPr wrap="square" rtlCol="0" anchor="ctr"/>
          <a:lstStyle/>
          <a:p>
            <a:pPr marL="0" indent="0" algn="ctr">
              <a:buNone/>
            </a:pPr>
            <a:r>
              <a:rPr lang="en-US" sz="2800" b="1" dirty="0">
                <a:solidFill>
                  <a:srgbClr val="FFFFFF"/>
                </a:solidFill>
              </a:rPr>
              <a:t>3</a:t>
            </a:r>
            <a:endParaRPr lang="en-US" sz="2800" dirty="0"/>
          </a:p>
        </p:txBody>
      </p:sp>
      <p:sp>
        <p:nvSpPr>
          <p:cNvPr id="23" name="Text 21"/>
          <p:cNvSpPr/>
          <p:nvPr/>
        </p:nvSpPr>
        <p:spPr>
          <a:xfrm>
            <a:off x="4745736" y="1691640"/>
            <a:ext cx="1828800" cy="685800"/>
          </a:xfrm>
          <a:prstGeom prst="rect">
            <a:avLst/>
          </a:prstGeom>
          <a:noFill/>
          <a:ln/>
        </p:spPr>
        <p:txBody>
          <a:bodyPr wrap="square" rtlCol="0" anchor="ctr"/>
          <a:lstStyle/>
          <a:p>
            <a:pPr marL="0" indent="0" algn="ctr">
              <a:lnSpc>
                <a:spcPct val="120000"/>
              </a:lnSpc>
              <a:buNone/>
            </a:pPr>
            <a:r>
              <a:rPr lang="en-US" sz="1300" b="1" dirty="0">
                <a:solidFill>
                  <a:srgbClr val="0D1B2A"/>
                </a:solidFill>
              </a:rPr>
              <a:t>Model</a:t>
            </a:r>
            <a:endParaRPr lang="en-US" sz="1300" dirty="0"/>
          </a:p>
          <a:p>
            <a:pPr marL="0" indent="0" algn="ctr">
              <a:lnSpc>
                <a:spcPct val="120000"/>
              </a:lnSpc>
              <a:buNone/>
            </a:pPr>
            <a:r>
              <a:rPr lang="en-US" sz="1300" b="1" dirty="0">
                <a:solidFill>
                  <a:srgbClr val="0D1B2A"/>
                </a:solidFill>
              </a:rPr>
              <a:t>Building</a:t>
            </a:r>
            <a:endParaRPr lang="en-US" sz="1300" dirty="0"/>
          </a:p>
        </p:txBody>
      </p:sp>
      <p:sp>
        <p:nvSpPr>
          <p:cNvPr id="24" name="Shape 22"/>
          <p:cNvSpPr/>
          <p:nvPr/>
        </p:nvSpPr>
        <p:spPr>
          <a:xfrm>
            <a:off x="4791456" y="2468880"/>
            <a:ext cx="1737360" cy="292608"/>
          </a:xfrm>
          <a:prstGeom prst="rect">
            <a:avLst/>
          </a:prstGeom>
          <a:solidFill>
            <a:srgbClr val="028090"/>
          </a:solidFill>
          <a:ln w="12700">
            <a:solidFill>
              <a:srgbClr val="028090"/>
            </a:solidFill>
            <a:prstDash val="solid"/>
          </a:ln>
        </p:spPr>
        <p:txBody>
          <a:bodyPr/>
          <a:lstStyle/>
          <a:p>
            <a:endParaRPr lang="en-IN"/>
          </a:p>
        </p:txBody>
      </p:sp>
      <p:sp>
        <p:nvSpPr>
          <p:cNvPr id="25" name="Text 23"/>
          <p:cNvSpPr/>
          <p:nvPr/>
        </p:nvSpPr>
        <p:spPr>
          <a:xfrm>
            <a:off x="4791456" y="2468880"/>
            <a:ext cx="1737360" cy="292608"/>
          </a:xfrm>
          <a:prstGeom prst="rect">
            <a:avLst/>
          </a:prstGeom>
          <a:noFill/>
          <a:ln/>
        </p:spPr>
        <p:txBody>
          <a:bodyPr wrap="square" rtlCol="0" anchor="ctr"/>
          <a:lstStyle/>
          <a:p>
            <a:pPr marL="0" indent="0" algn="ctr">
              <a:buNone/>
            </a:pPr>
            <a:r>
              <a:rPr lang="en-US" sz="1000" b="1" dirty="0">
                <a:solidFill>
                  <a:srgbClr val="FFFFFF"/>
                </a:solidFill>
              </a:rPr>
              <a:t>Sebin George</a:t>
            </a:r>
            <a:endParaRPr lang="en-US" sz="1000" dirty="0"/>
          </a:p>
        </p:txBody>
      </p:sp>
      <p:sp>
        <p:nvSpPr>
          <p:cNvPr id="26" name="Text 24"/>
          <p:cNvSpPr/>
          <p:nvPr/>
        </p:nvSpPr>
        <p:spPr>
          <a:xfrm>
            <a:off x="4745736" y="2834640"/>
            <a:ext cx="1828800" cy="1828800"/>
          </a:xfrm>
          <a:prstGeom prst="rect">
            <a:avLst/>
          </a:prstGeom>
          <a:noFill/>
          <a:ln/>
        </p:spPr>
        <p:txBody>
          <a:bodyPr wrap="square" rtlCol="0" anchor="ctr"/>
          <a:lstStyle/>
          <a:p>
            <a:pPr marL="0" indent="0">
              <a:lnSpc>
                <a:spcPct val="140000"/>
              </a:lnSpc>
              <a:buNone/>
            </a:pPr>
            <a:r>
              <a:rPr lang="en-US" sz="1100" dirty="0">
                <a:solidFill>
                  <a:srgbClr val="64748B"/>
                </a:solidFill>
              </a:rPr>
              <a:t>SVM baseline model</a:t>
            </a:r>
            <a:endParaRPr lang="en-US" sz="1100" dirty="0"/>
          </a:p>
          <a:p>
            <a:pPr marL="0" indent="0">
              <a:lnSpc>
                <a:spcPct val="140000"/>
              </a:lnSpc>
              <a:buNone/>
            </a:pPr>
            <a:r>
              <a:rPr lang="en-US" sz="1100" dirty="0">
                <a:solidFill>
                  <a:srgbClr val="64748B"/>
                </a:solidFill>
              </a:rPr>
              <a:t>Fine-tuned BERT</a:t>
            </a:r>
            <a:endParaRPr lang="en-US" sz="1100" dirty="0"/>
          </a:p>
          <a:p>
            <a:pPr marL="0" indent="0">
              <a:lnSpc>
                <a:spcPct val="140000"/>
              </a:lnSpc>
              <a:buNone/>
            </a:pPr>
            <a:r>
              <a:rPr lang="en-US" sz="1100" dirty="0">
                <a:solidFill>
                  <a:srgbClr val="64748B"/>
                </a:solidFill>
              </a:rPr>
              <a:t>Saved predictions</a:t>
            </a:r>
            <a:endParaRPr lang="en-US" sz="1100" dirty="0"/>
          </a:p>
          <a:p>
            <a:pPr marL="0" indent="0">
              <a:lnSpc>
                <a:spcPct val="140000"/>
              </a:lnSpc>
              <a:buNone/>
            </a:pPr>
            <a:r>
              <a:rPr lang="en-US" sz="1100" dirty="0">
                <a:solidFill>
                  <a:srgbClr val="64748B"/>
                </a:solidFill>
              </a:rPr>
              <a:t>as .npy files</a:t>
            </a:r>
            <a:endParaRPr lang="en-US" sz="1100" dirty="0"/>
          </a:p>
        </p:txBody>
      </p:sp>
      <p:sp>
        <p:nvSpPr>
          <p:cNvPr id="27" name="Shape 25"/>
          <p:cNvSpPr/>
          <p:nvPr/>
        </p:nvSpPr>
        <p:spPr>
          <a:xfrm>
            <a:off x="6684264" y="2651760"/>
            <a:ext cx="155448" cy="54864"/>
          </a:xfrm>
          <a:prstGeom prst="rect">
            <a:avLst/>
          </a:prstGeom>
          <a:solidFill>
            <a:srgbClr val="028090"/>
          </a:solidFill>
          <a:ln w="12700">
            <a:solidFill>
              <a:srgbClr val="028090"/>
            </a:solidFill>
            <a:prstDash val="solid"/>
          </a:ln>
        </p:spPr>
        <p:txBody>
          <a:bodyPr/>
          <a:lstStyle/>
          <a:p>
            <a:endParaRPr lang="en-IN"/>
          </a:p>
        </p:txBody>
      </p:sp>
      <p:sp>
        <p:nvSpPr>
          <p:cNvPr id="28" name="Shape 26"/>
          <p:cNvSpPr/>
          <p:nvPr/>
        </p:nvSpPr>
        <p:spPr>
          <a:xfrm>
            <a:off x="6867144" y="960120"/>
            <a:ext cx="2011680" cy="384048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29" name="Shape 27"/>
          <p:cNvSpPr/>
          <p:nvPr/>
        </p:nvSpPr>
        <p:spPr>
          <a:xfrm>
            <a:off x="6867144" y="960120"/>
            <a:ext cx="2011680" cy="640080"/>
          </a:xfrm>
          <a:prstGeom prst="rect">
            <a:avLst/>
          </a:prstGeom>
          <a:solidFill>
            <a:srgbClr val="6B46C1"/>
          </a:solidFill>
          <a:ln w="12700">
            <a:solidFill>
              <a:srgbClr val="6B46C1"/>
            </a:solidFill>
            <a:prstDash val="solid"/>
          </a:ln>
        </p:spPr>
        <p:txBody>
          <a:bodyPr/>
          <a:lstStyle/>
          <a:p>
            <a:endParaRPr lang="en-IN"/>
          </a:p>
        </p:txBody>
      </p:sp>
      <p:sp>
        <p:nvSpPr>
          <p:cNvPr id="30" name="Text 28"/>
          <p:cNvSpPr/>
          <p:nvPr/>
        </p:nvSpPr>
        <p:spPr>
          <a:xfrm>
            <a:off x="6867144" y="960120"/>
            <a:ext cx="2011680" cy="640080"/>
          </a:xfrm>
          <a:prstGeom prst="rect">
            <a:avLst/>
          </a:prstGeom>
          <a:noFill/>
          <a:ln/>
        </p:spPr>
        <p:txBody>
          <a:bodyPr wrap="square" rtlCol="0" anchor="ctr"/>
          <a:lstStyle/>
          <a:p>
            <a:pPr marL="0" indent="0" algn="ctr">
              <a:buNone/>
            </a:pPr>
            <a:r>
              <a:rPr lang="en-US" sz="2800" b="1" dirty="0">
                <a:solidFill>
                  <a:srgbClr val="FFFFFF"/>
                </a:solidFill>
              </a:rPr>
              <a:t>4</a:t>
            </a:r>
            <a:endParaRPr lang="en-US" sz="2800" dirty="0"/>
          </a:p>
        </p:txBody>
      </p:sp>
      <p:sp>
        <p:nvSpPr>
          <p:cNvPr id="31" name="Text 29"/>
          <p:cNvSpPr/>
          <p:nvPr/>
        </p:nvSpPr>
        <p:spPr>
          <a:xfrm>
            <a:off x="6958584" y="1691640"/>
            <a:ext cx="1828800" cy="685800"/>
          </a:xfrm>
          <a:prstGeom prst="rect">
            <a:avLst/>
          </a:prstGeom>
          <a:noFill/>
          <a:ln/>
        </p:spPr>
        <p:txBody>
          <a:bodyPr wrap="square" rtlCol="0" anchor="ctr"/>
          <a:lstStyle/>
          <a:p>
            <a:pPr marL="0" indent="0" algn="ctr">
              <a:lnSpc>
                <a:spcPct val="120000"/>
              </a:lnSpc>
              <a:buNone/>
            </a:pPr>
            <a:r>
              <a:rPr lang="en-US" sz="1300" b="1" dirty="0">
                <a:solidFill>
                  <a:srgbClr val="0D1B2A"/>
                </a:solidFill>
              </a:rPr>
              <a:t>Evaluation</a:t>
            </a:r>
            <a:endParaRPr lang="en-US" sz="1300" dirty="0"/>
          </a:p>
          <a:p>
            <a:pPr marL="0" indent="0" algn="ctr">
              <a:lnSpc>
                <a:spcPct val="120000"/>
              </a:lnSpc>
              <a:buNone/>
            </a:pPr>
            <a:r>
              <a:rPr lang="en-US" sz="1300" b="1" dirty="0">
                <a:solidFill>
                  <a:srgbClr val="0D1B2A"/>
                </a:solidFill>
              </a:rPr>
              <a:t>&amp; Comparison</a:t>
            </a:r>
            <a:endParaRPr lang="en-US" sz="1300" dirty="0"/>
          </a:p>
        </p:txBody>
      </p:sp>
      <p:sp>
        <p:nvSpPr>
          <p:cNvPr id="32" name="Shape 30"/>
          <p:cNvSpPr/>
          <p:nvPr/>
        </p:nvSpPr>
        <p:spPr>
          <a:xfrm>
            <a:off x="7004304" y="2468880"/>
            <a:ext cx="1737360" cy="292608"/>
          </a:xfrm>
          <a:prstGeom prst="rect">
            <a:avLst/>
          </a:prstGeom>
          <a:solidFill>
            <a:srgbClr val="6B46C1"/>
          </a:solidFill>
          <a:ln w="12700">
            <a:solidFill>
              <a:srgbClr val="6B46C1"/>
            </a:solidFill>
            <a:prstDash val="solid"/>
          </a:ln>
        </p:spPr>
        <p:txBody>
          <a:bodyPr/>
          <a:lstStyle/>
          <a:p>
            <a:endParaRPr lang="en-IN"/>
          </a:p>
        </p:txBody>
      </p:sp>
      <p:sp>
        <p:nvSpPr>
          <p:cNvPr id="33" name="Text 31"/>
          <p:cNvSpPr/>
          <p:nvPr/>
        </p:nvSpPr>
        <p:spPr>
          <a:xfrm>
            <a:off x="7004304" y="2468880"/>
            <a:ext cx="1737360" cy="292608"/>
          </a:xfrm>
          <a:prstGeom prst="rect">
            <a:avLst/>
          </a:prstGeom>
          <a:noFill/>
          <a:ln/>
        </p:spPr>
        <p:txBody>
          <a:bodyPr wrap="square" rtlCol="0" anchor="ctr"/>
          <a:lstStyle/>
          <a:p>
            <a:pPr marL="0" indent="0" algn="ctr">
              <a:buNone/>
            </a:pPr>
            <a:r>
              <a:rPr lang="en-US" sz="1000" b="1" dirty="0">
                <a:solidFill>
                  <a:srgbClr val="FFFFFF"/>
                </a:solidFill>
              </a:rPr>
              <a:t>Arun P S</a:t>
            </a:r>
            <a:endParaRPr lang="en-US" sz="1000" dirty="0"/>
          </a:p>
        </p:txBody>
      </p:sp>
      <p:sp>
        <p:nvSpPr>
          <p:cNvPr id="34" name="Text 32"/>
          <p:cNvSpPr/>
          <p:nvPr/>
        </p:nvSpPr>
        <p:spPr>
          <a:xfrm>
            <a:off x="6958584" y="2834640"/>
            <a:ext cx="1828800" cy="1828800"/>
          </a:xfrm>
          <a:prstGeom prst="rect">
            <a:avLst/>
          </a:prstGeom>
          <a:noFill/>
          <a:ln/>
        </p:spPr>
        <p:txBody>
          <a:bodyPr wrap="square" rtlCol="0" anchor="ctr"/>
          <a:lstStyle/>
          <a:p>
            <a:pPr marL="0" indent="0">
              <a:lnSpc>
                <a:spcPct val="140000"/>
              </a:lnSpc>
              <a:buNone/>
            </a:pPr>
            <a:r>
              <a:rPr lang="en-US" sz="1100" dirty="0">
                <a:solidFill>
                  <a:srgbClr val="64748B"/>
                </a:solidFill>
              </a:rPr>
              <a:t>Confusion matrices</a:t>
            </a:r>
            <a:endParaRPr lang="en-US" sz="1100" dirty="0"/>
          </a:p>
          <a:p>
            <a:pPr marL="0" indent="0">
              <a:lnSpc>
                <a:spcPct val="140000"/>
              </a:lnSpc>
              <a:buNone/>
            </a:pPr>
            <a:r>
              <a:rPr lang="en-US" sz="1100" dirty="0">
                <a:solidFill>
                  <a:srgbClr val="64748B"/>
                </a:solidFill>
              </a:rPr>
              <a:t>Sensitivity, Specificity</a:t>
            </a:r>
            <a:endParaRPr lang="en-US" sz="1100" dirty="0"/>
          </a:p>
          <a:p>
            <a:pPr marL="0" indent="0">
              <a:lnSpc>
                <a:spcPct val="140000"/>
              </a:lnSpc>
              <a:buNone/>
            </a:pPr>
            <a:r>
              <a:rPr lang="en-US" sz="1100" dirty="0">
                <a:solidFill>
                  <a:srgbClr val="64748B"/>
                </a:solidFill>
              </a:rPr>
              <a:t>F1-score, Accuracy</a:t>
            </a:r>
            <a:endParaRPr lang="en-US" sz="1100" dirty="0"/>
          </a:p>
          <a:p>
            <a:pPr marL="0" indent="0">
              <a:lnSpc>
                <a:spcPct val="140000"/>
              </a:lnSpc>
              <a:buNone/>
            </a:pPr>
            <a:r>
              <a:rPr lang="en-US" sz="1100" dirty="0">
                <a:solidFill>
                  <a:srgbClr val="64748B"/>
                </a:solidFill>
              </a:rPr>
              <a:t>Ethics discussion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65760" y="0"/>
            <a:ext cx="8229600" cy="82296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Model Performance Results</a:t>
            </a:r>
            <a:endParaRPr lang="en-US" sz="2600" dirty="0"/>
          </a:p>
        </p:txBody>
      </p:sp>
      <p:sp>
        <p:nvSpPr>
          <p:cNvPr id="4" name="Shape 2"/>
          <p:cNvSpPr/>
          <p:nvPr/>
        </p:nvSpPr>
        <p:spPr>
          <a:xfrm>
            <a:off x="274320" y="960120"/>
            <a:ext cx="3931920" cy="182880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5" name="Shape 3"/>
          <p:cNvSpPr/>
          <p:nvPr/>
        </p:nvSpPr>
        <p:spPr>
          <a:xfrm>
            <a:off x="274320" y="960120"/>
            <a:ext cx="3931920" cy="411480"/>
          </a:xfrm>
          <a:prstGeom prst="rect">
            <a:avLst/>
          </a:prstGeom>
          <a:solidFill>
            <a:srgbClr val="475569"/>
          </a:solidFill>
          <a:ln w="12700">
            <a:solidFill>
              <a:srgbClr val="475569"/>
            </a:solidFill>
            <a:prstDash val="solid"/>
          </a:ln>
        </p:spPr>
        <p:txBody>
          <a:bodyPr/>
          <a:lstStyle/>
          <a:p>
            <a:endParaRPr lang="en-IN"/>
          </a:p>
        </p:txBody>
      </p:sp>
      <p:sp>
        <p:nvSpPr>
          <p:cNvPr id="6" name="Text 4"/>
          <p:cNvSpPr/>
          <p:nvPr/>
        </p:nvSpPr>
        <p:spPr>
          <a:xfrm>
            <a:off x="457200" y="960120"/>
            <a:ext cx="3749040" cy="411480"/>
          </a:xfrm>
          <a:prstGeom prst="rect">
            <a:avLst/>
          </a:prstGeom>
          <a:noFill/>
          <a:ln/>
        </p:spPr>
        <p:txBody>
          <a:bodyPr wrap="square" rtlCol="0" anchor="ctr"/>
          <a:lstStyle/>
          <a:p>
            <a:pPr marL="0" indent="0">
              <a:buNone/>
            </a:pPr>
            <a:r>
              <a:rPr lang="en-US" sz="1300" b="1" dirty="0">
                <a:solidFill>
                  <a:srgbClr val="FFFFFF"/>
                </a:solidFill>
              </a:rPr>
              <a:t>TF-IDF + SVM  (Baseline)</a:t>
            </a:r>
            <a:endParaRPr lang="en-US" sz="1300" dirty="0"/>
          </a:p>
        </p:txBody>
      </p:sp>
      <p:sp>
        <p:nvSpPr>
          <p:cNvPr id="7" name="Text 5"/>
          <p:cNvSpPr/>
          <p:nvPr/>
        </p:nvSpPr>
        <p:spPr>
          <a:xfrm>
            <a:off x="457200" y="1463040"/>
            <a:ext cx="1828800" cy="320040"/>
          </a:xfrm>
          <a:prstGeom prst="rect">
            <a:avLst/>
          </a:prstGeom>
          <a:noFill/>
          <a:ln/>
        </p:spPr>
        <p:txBody>
          <a:bodyPr wrap="square" rtlCol="0" anchor="ctr"/>
          <a:lstStyle/>
          <a:p>
            <a:pPr marL="0" indent="0">
              <a:buNone/>
            </a:pPr>
            <a:r>
              <a:rPr lang="en-US" sz="1200" dirty="0">
                <a:solidFill>
                  <a:srgbClr val="64748B"/>
                </a:solidFill>
              </a:rPr>
              <a:t>Accuracy</a:t>
            </a:r>
            <a:endParaRPr lang="en-US" sz="1200" dirty="0"/>
          </a:p>
        </p:txBody>
      </p:sp>
      <p:sp>
        <p:nvSpPr>
          <p:cNvPr id="8" name="Text 6"/>
          <p:cNvSpPr/>
          <p:nvPr/>
        </p:nvSpPr>
        <p:spPr>
          <a:xfrm>
            <a:off x="2286000" y="1463040"/>
            <a:ext cx="1645920" cy="320040"/>
          </a:xfrm>
          <a:prstGeom prst="rect">
            <a:avLst/>
          </a:prstGeom>
          <a:noFill/>
          <a:ln/>
        </p:spPr>
        <p:txBody>
          <a:bodyPr wrap="square" rtlCol="0" anchor="ctr"/>
          <a:lstStyle/>
          <a:p>
            <a:pPr marL="0" indent="0" algn="r">
              <a:buNone/>
            </a:pPr>
            <a:r>
              <a:rPr lang="en-US" sz="1400" b="1" dirty="0">
                <a:solidFill>
                  <a:srgbClr val="475569"/>
                </a:solidFill>
              </a:rPr>
              <a:t>82.2%</a:t>
            </a:r>
            <a:endParaRPr lang="en-US" sz="1400" dirty="0"/>
          </a:p>
        </p:txBody>
      </p:sp>
      <p:sp>
        <p:nvSpPr>
          <p:cNvPr id="9" name="Text 7"/>
          <p:cNvSpPr/>
          <p:nvPr/>
        </p:nvSpPr>
        <p:spPr>
          <a:xfrm>
            <a:off x="457200" y="1810512"/>
            <a:ext cx="1828800" cy="320040"/>
          </a:xfrm>
          <a:prstGeom prst="rect">
            <a:avLst/>
          </a:prstGeom>
          <a:noFill/>
          <a:ln/>
        </p:spPr>
        <p:txBody>
          <a:bodyPr wrap="square" rtlCol="0" anchor="ctr"/>
          <a:lstStyle/>
          <a:p>
            <a:pPr marL="0" indent="0">
              <a:buNone/>
            </a:pPr>
            <a:r>
              <a:rPr lang="en-US" sz="1200" dirty="0">
                <a:solidFill>
                  <a:srgbClr val="64748B"/>
                </a:solidFill>
              </a:rPr>
              <a:t>Macro F1</a:t>
            </a:r>
            <a:endParaRPr lang="en-US" sz="1200" dirty="0"/>
          </a:p>
        </p:txBody>
      </p:sp>
      <p:sp>
        <p:nvSpPr>
          <p:cNvPr id="10" name="Text 8"/>
          <p:cNvSpPr/>
          <p:nvPr/>
        </p:nvSpPr>
        <p:spPr>
          <a:xfrm>
            <a:off x="2286000" y="1810512"/>
            <a:ext cx="1645920" cy="320040"/>
          </a:xfrm>
          <a:prstGeom prst="rect">
            <a:avLst/>
          </a:prstGeom>
          <a:noFill/>
          <a:ln/>
        </p:spPr>
        <p:txBody>
          <a:bodyPr wrap="square" rtlCol="0" anchor="ctr"/>
          <a:lstStyle/>
          <a:p>
            <a:pPr marL="0" indent="0" algn="r">
              <a:buNone/>
            </a:pPr>
            <a:r>
              <a:rPr lang="en-US" sz="1400" b="1" dirty="0">
                <a:solidFill>
                  <a:srgbClr val="475569"/>
                </a:solidFill>
              </a:rPr>
              <a:t>0.821</a:t>
            </a:r>
            <a:endParaRPr lang="en-US" sz="1400" dirty="0"/>
          </a:p>
        </p:txBody>
      </p:sp>
      <p:sp>
        <p:nvSpPr>
          <p:cNvPr id="11" name="Text 9"/>
          <p:cNvSpPr/>
          <p:nvPr/>
        </p:nvSpPr>
        <p:spPr>
          <a:xfrm>
            <a:off x="457200" y="2157984"/>
            <a:ext cx="1828800" cy="320040"/>
          </a:xfrm>
          <a:prstGeom prst="rect">
            <a:avLst/>
          </a:prstGeom>
          <a:noFill/>
          <a:ln/>
        </p:spPr>
        <p:txBody>
          <a:bodyPr wrap="square" rtlCol="0" anchor="ctr"/>
          <a:lstStyle/>
          <a:p>
            <a:pPr marL="0" indent="0">
              <a:buNone/>
            </a:pPr>
            <a:r>
              <a:rPr lang="en-US" sz="1200" dirty="0">
                <a:solidFill>
                  <a:srgbClr val="64748B"/>
                </a:solidFill>
              </a:rPr>
              <a:t>Weighted F1</a:t>
            </a:r>
            <a:endParaRPr lang="en-US" sz="1200" dirty="0"/>
          </a:p>
        </p:txBody>
      </p:sp>
      <p:sp>
        <p:nvSpPr>
          <p:cNvPr id="12" name="Text 10"/>
          <p:cNvSpPr/>
          <p:nvPr/>
        </p:nvSpPr>
        <p:spPr>
          <a:xfrm>
            <a:off x="2286000" y="2157984"/>
            <a:ext cx="1645920" cy="320040"/>
          </a:xfrm>
          <a:prstGeom prst="rect">
            <a:avLst/>
          </a:prstGeom>
          <a:noFill/>
          <a:ln/>
        </p:spPr>
        <p:txBody>
          <a:bodyPr wrap="square" rtlCol="0" anchor="ctr"/>
          <a:lstStyle/>
          <a:p>
            <a:pPr marL="0" indent="0" algn="r">
              <a:buNone/>
            </a:pPr>
            <a:r>
              <a:rPr lang="en-US" sz="1400" b="1" dirty="0">
                <a:solidFill>
                  <a:srgbClr val="475569"/>
                </a:solidFill>
              </a:rPr>
              <a:t>0.821</a:t>
            </a:r>
            <a:endParaRPr lang="en-US" sz="1400" dirty="0"/>
          </a:p>
        </p:txBody>
      </p:sp>
      <p:sp>
        <p:nvSpPr>
          <p:cNvPr id="13" name="Shape 11"/>
          <p:cNvSpPr/>
          <p:nvPr/>
        </p:nvSpPr>
        <p:spPr>
          <a:xfrm>
            <a:off x="4663440" y="960120"/>
            <a:ext cx="4206240" cy="1828800"/>
          </a:xfrm>
          <a:prstGeom prst="rect">
            <a:avLst/>
          </a:prstGeom>
          <a:solidFill>
            <a:srgbClr val="FFFFFF"/>
          </a:solidFill>
          <a:ln w="12700">
            <a:solidFill>
              <a:srgbClr val="02C39A"/>
            </a:solidFill>
            <a:prstDash val="solid"/>
          </a:ln>
          <a:effectLst>
            <a:outerShdw blurRad="101600" dist="25400" dir="8100000" algn="bl" rotWithShape="0">
              <a:srgbClr val="000000">
                <a:alpha val="10000"/>
              </a:srgbClr>
            </a:outerShdw>
          </a:effectLst>
        </p:spPr>
        <p:txBody>
          <a:bodyPr/>
          <a:lstStyle/>
          <a:p>
            <a:endParaRPr lang="en-IN"/>
          </a:p>
        </p:txBody>
      </p:sp>
      <p:sp>
        <p:nvSpPr>
          <p:cNvPr id="14" name="Shape 12"/>
          <p:cNvSpPr/>
          <p:nvPr/>
        </p:nvSpPr>
        <p:spPr>
          <a:xfrm>
            <a:off x="4663440" y="960120"/>
            <a:ext cx="4206240" cy="411480"/>
          </a:xfrm>
          <a:prstGeom prst="rect">
            <a:avLst/>
          </a:prstGeom>
          <a:solidFill>
            <a:srgbClr val="028090"/>
          </a:solidFill>
          <a:ln w="12700">
            <a:solidFill>
              <a:srgbClr val="028090"/>
            </a:solidFill>
            <a:prstDash val="solid"/>
          </a:ln>
        </p:spPr>
        <p:txBody>
          <a:bodyPr/>
          <a:lstStyle/>
          <a:p>
            <a:endParaRPr lang="en-IN"/>
          </a:p>
        </p:txBody>
      </p:sp>
      <p:sp>
        <p:nvSpPr>
          <p:cNvPr id="15" name="Text 13"/>
          <p:cNvSpPr/>
          <p:nvPr/>
        </p:nvSpPr>
        <p:spPr>
          <a:xfrm>
            <a:off x="4800600" y="960120"/>
            <a:ext cx="3931920" cy="411480"/>
          </a:xfrm>
          <a:prstGeom prst="rect">
            <a:avLst/>
          </a:prstGeom>
          <a:noFill/>
          <a:ln/>
        </p:spPr>
        <p:txBody>
          <a:bodyPr wrap="square" rtlCol="0" anchor="ctr"/>
          <a:lstStyle/>
          <a:p>
            <a:pPr marL="0" indent="0">
              <a:buNone/>
            </a:pPr>
            <a:r>
              <a:rPr lang="en-US" sz="1300" b="1" dirty="0">
                <a:solidFill>
                  <a:srgbClr val="FFFFFF"/>
                </a:solidFill>
              </a:rPr>
              <a:t>🏆  BERT (Fine-tuned)  — Best Model</a:t>
            </a:r>
            <a:endParaRPr lang="en-US" sz="1300" dirty="0"/>
          </a:p>
        </p:txBody>
      </p:sp>
      <p:sp>
        <p:nvSpPr>
          <p:cNvPr id="16" name="Text 14"/>
          <p:cNvSpPr/>
          <p:nvPr/>
        </p:nvSpPr>
        <p:spPr>
          <a:xfrm>
            <a:off x="4800600" y="1463040"/>
            <a:ext cx="2011680" cy="320040"/>
          </a:xfrm>
          <a:prstGeom prst="rect">
            <a:avLst/>
          </a:prstGeom>
          <a:noFill/>
          <a:ln/>
        </p:spPr>
        <p:txBody>
          <a:bodyPr wrap="square" rtlCol="0" anchor="ctr"/>
          <a:lstStyle/>
          <a:p>
            <a:pPr marL="0" indent="0">
              <a:buNone/>
            </a:pPr>
            <a:r>
              <a:rPr lang="en-US" sz="1200" dirty="0">
                <a:solidFill>
                  <a:srgbClr val="64748B"/>
                </a:solidFill>
              </a:rPr>
              <a:t>Accuracy</a:t>
            </a:r>
            <a:endParaRPr lang="en-US" sz="1200" dirty="0"/>
          </a:p>
        </p:txBody>
      </p:sp>
      <p:sp>
        <p:nvSpPr>
          <p:cNvPr id="17" name="Text 15"/>
          <p:cNvSpPr/>
          <p:nvPr/>
        </p:nvSpPr>
        <p:spPr>
          <a:xfrm>
            <a:off x="6858000" y="1463040"/>
            <a:ext cx="1737360" cy="320040"/>
          </a:xfrm>
          <a:prstGeom prst="rect">
            <a:avLst/>
          </a:prstGeom>
          <a:noFill/>
          <a:ln/>
        </p:spPr>
        <p:txBody>
          <a:bodyPr wrap="square" rtlCol="0" anchor="ctr"/>
          <a:lstStyle/>
          <a:p>
            <a:pPr marL="0" indent="0" algn="r">
              <a:buNone/>
            </a:pPr>
            <a:r>
              <a:rPr lang="en-US" sz="1400" b="1" dirty="0">
                <a:solidFill>
                  <a:srgbClr val="028090"/>
                </a:solidFill>
              </a:rPr>
              <a:t>85.7%</a:t>
            </a:r>
            <a:endParaRPr lang="en-US" sz="1400" dirty="0"/>
          </a:p>
        </p:txBody>
      </p:sp>
      <p:sp>
        <p:nvSpPr>
          <p:cNvPr id="18" name="Text 16"/>
          <p:cNvSpPr/>
          <p:nvPr/>
        </p:nvSpPr>
        <p:spPr>
          <a:xfrm>
            <a:off x="4800600" y="1810512"/>
            <a:ext cx="2011680" cy="320040"/>
          </a:xfrm>
          <a:prstGeom prst="rect">
            <a:avLst/>
          </a:prstGeom>
          <a:noFill/>
          <a:ln/>
        </p:spPr>
        <p:txBody>
          <a:bodyPr wrap="square" rtlCol="0" anchor="ctr"/>
          <a:lstStyle/>
          <a:p>
            <a:pPr marL="0" indent="0">
              <a:buNone/>
            </a:pPr>
            <a:r>
              <a:rPr lang="en-US" sz="1200" dirty="0">
                <a:solidFill>
                  <a:srgbClr val="64748B"/>
                </a:solidFill>
              </a:rPr>
              <a:t>Macro F1</a:t>
            </a:r>
            <a:endParaRPr lang="en-US" sz="1200" dirty="0"/>
          </a:p>
        </p:txBody>
      </p:sp>
      <p:sp>
        <p:nvSpPr>
          <p:cNvPr id="19" name="Text 17"/>
          <p:cNvSpPr/>
          <p:nvPr/>
        </p:nvSpPr>
        <p:spPr>
          <a:xfrm>
            <a:off x="6858000" y="1810512"/>
            <a:ext cx="1737360" cy="320040"/>
          </a:xfrm>
          <a:prstGeom prst="rect">
            <a:avLst/>
          </a:prstGeom>
          <a:noFill/>
          <a:ln/>
        </p:spPr>
        <p:txBody>
          <a:bodyPr wrap="square" rtlCol="0" anchor="ctr"/>
          <a:lstStyle/>
          <a:p>
            <a:pPr marL="0" indent="0" algn="r">
              <a:buNone/>
            </a:pPr>
            <a:r>
              <a:rPr lang="en-US" sz="1400" b="1" dirty="0">
                <a:solidFill>
                  <a:srgbClr val="028090"/>
                </a:solidFill>
              </a:rPr>
              <a:t>0.857</a:t>
            </a:r>
            <a:endParaRPr lang="en-US" sz="1400" dirty="0"/>
          </a:p>
        </p:txBody>
      </p:sp>
      <p:sp>
        <p:nvSpPr>
          <p:cNvPr id="20" name="Text 18"/>
          <p:cNvSpPr/>
          <p:nvPr/>
        </p:nvSpPr>
        <p:spPr>
          <a:xfrm>
            <a:off x="4800600" y="2157984"/>
            <a:ext cx="2011680" cy="320040"/>
          </a:xfrm>
          <a:prstGeom prst="rect">
            <a:avLst/>
          </a:prstGeom>
          <a:noFill/>
          <a:ln/>
        </p:spPr>
        <p:txBody>
          <a:bodyPr wrap="square" rtlCol="0" anchor="ctr"/>
          <a:lstStyle/>
          <a:p>
            <a:pPr marL="0" indent="0">
              <a:buNone/>
            </a:pPr>
            <a:r>
              <a:rPr lang="en-US" sz="1200" dirty="0">
                <a:solidFill>
                  <a:srgbClr val="64748B"/>
                </a:solidFill>
              </a:rPr>
              <a:t>Weighted F1</a:t>
            </a:r>
            <a:endParaRPr lang="en-US" sz="1200" dirty="0"/>
          </a:p>
        </p:txBody>
      </p:sp>
      <p:sp>
        <p:nvSpPr>
          <p:cNvPr id="21" name="Text 19"/>
          <p:cNvSpPr/>
          <p:nvPr/>
        </p:nvSpPr>
        <p:spPr>
          <a:xfrm>
            <a:off x="6858000" y="2157984"/>
            <a:ext cx="1737360" cy="320040"/>
          </a:xfrm>
          <a:prstGeom prst="rect">
            <a:avLst/>
          </a:prstGeom>
          <a:noFill/>
          <a:ln/>
        </p:spPr>
        <p:txBody>
          <a:bodyPr wrap="square" rtlCol="0" anchor="ctr"/>
          <a:lstStyle/>
          <a:p>
            <a:pPr marL="0" indent="0" algn="r">
              <a:buNone/>
            </a:pPr>
            <a:r>
              <a:rPr lang="en-US" sz="1400" b="1" dirty="0">
                <a:solidFill>
                  <a:srgbClr val="028090"/>
                </a:solidFill>
              </a:rPr>
              <a:t>0.857</a:t>
            </a:r>
            <a:endParaRPr lang="en-US" sz="1400" dirty="0"/>
          </a:p>
        </p:txBody>
      </p:sp>
      <p:graphicFrame>
        <p:nvGraphicFramePr>
          <p:cNvPr id="22" name="Chart 0"/>
          <p:cNvGraphicFramePr/>
          <p:nvPr/>
        </p:nvGraphicFramePr>
        <p:xfrm>
          <a:off x="274320" y="2926080"/>
          <a:ext cx="8595360" cy="19202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8090"/>
          </a:solidFill>
          <a:ln w="12700">
            <a:solidFill>
              <a:srgbClr val="028090"/>
            </a:solidFill>
            <a:prstDash val="solid"/>
          </a:ln>
        </p:spPr>
        <p:txBody>
          <a:bodyPr/>
          <a:lstStyle/>
          <a:p>
            <a:endParaRPr lang="en-IN"/>
          </a:p>
        </p:txBody>
      </p:sp>
      <p:sp>
        <p:nvSpPr>
          <p:cNvPr id="3" name="Text 1"/>
          <p:cNvSpPr/>
          <p:nvPr/>
        </p:nvSpPr>
        <p:spPr>
          <a:xfrm>
            <a:off x="365760" y="0"/>
            <a:ext cx="8229600" cy="82296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Confusion Matrix Results</a:t>
            </a:r>
            <a:endParaRPr lang="en-US" sz="2600" dirty="0"/>
          </a:p>
        </p:txBody>
      </p:sp>
      <p:sp>
        <p:nvSpPr>
          <p:cNvPr id="4" name="Text 2"/>
          <p:cNvSpPr/>
          <p:nvPr/>
        </p:nvSpPr>
        <p:spPr>
          <a:xfrm>
            <a:off x="274320" y="914400"/>
            <a:ext cx="4114800" cy="320040"/>
          </a:xfrm>
          <a:prstGeom prst="rect">
            <a:avLst/>
          </a:prstGeom>
          <a:noFill/>
          <a:ln/>
        </p:spPr>
        <p:txBody>
          <a:bodyPr wrap="square" rtlCol="0" anchor="ctr"/>
          <a:lstStyle/>
          <a:p>
            <a:pPr marL="0" indent="0">
              <a:buNone/>
            </a:pPr>
            <a:r>
              <a:rPr lang="en-US" sz="1400" b="1" dirty="0">
                <a:solidFill>
                  <a:srgbClr val="475569"/>
                </a:solidFill>
              </a:rPr>
              <a:t>SVM Confusion Matrix</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4096512" cy="1371600"/>
        </p:xfrm>
        <a:graphic>
          <a:graphicData uri="http://schemas.openxmlformats.org/drawingml/2006/table">
            <a:tbl>
              <a:tblPr/>
              <a:tblGrid>
                <a:gridCol w="1097280">
                  <a:extLst>
                    <a:ext uri="{9D8B030D-6E8A-4147-A177-3AD203B41FA5}">
                      <a16:colId xmlns:a16="http://schemas.microsoft.com/office/drawing/2014/main" val="20000"/>
                    </a:ext>
                  </a:extLst>
                </a:gridCol>
                <a:gridCol w="749808">
                  <a:extLst>
                    <a:ext uri="{9D8B030D-6E8A-4147-A177-3AD203B41FA5}">
                      <a16:colId xmlns:a16="http://schemas.microsoft.com/office/drawing/2014/main" val="20001"/>
                    </a:ext>
                  </a:extLst>
                </a:gridCol>
                <a:gridCol w="749808">
                  <a:extLst>
                    <a:ext uri="{9D8B030D-6E8A-4147-A177-3AD203B41FA5}">
                      <a16:colId xmlns:a16="http://schemas.microsoft.com/office/drawing/2014/main" val="20002"/>
                    </a:ext>
                  </a:extLst>
                </a:gridCol>
                <a:gridCol w="749808">
                  <a:extLst>
                    <a:ext uri="{9D8B030D-6E8A-4147-A177-3AD203B41FA5}">
                      <a16:colId xmlns:a16="http://schemas.microsoft.com/office/drawing/2014/main" val="20003"/>
                    </a:ext>
                  </a:extLst>
                </a:gridCol>
                <a:gridCol w="749808">
                  <a:extLst>
                    <a:ext uri="{9D8B030D-6E8A-4147-A177-3AD203B41FA5}">
                      <a16:colId xmlns:a16="http://schemas.microsoft.com/office/drawing/2014/main" val="20004"/>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Actual \ Pred</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475569"/>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Dep</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475569"/>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Anx</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475569"/>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PTSD</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475569"/>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Norm</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475569"/>
                    </a:solidFill>
                  </a:tcPr>
                </a:tc>
                <a:extLst>
                  <a:ext uri="{0D108BD9-81ED-4DB2-BD59-A6C34878D82A}">
                    <a16:rowId xmlns:a16="http://schemas.microsoft.com/office/drawing/2014/main" val="10000"/>
                  </a:ext>
                </a:extLst>
              </a:tr>
              <a:tr h="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Depression</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450</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Anxiety</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27</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416</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39</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PTSD</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453</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Normal</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52</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49</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374</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3"/>
          <p:cNvSpPr/>
          <p:nvPr/>
        </p:nvSpPr>
        <p:spPr>
          <a:xfrm>
            <a:off x="4754880" y="914400"/>
            <a:ext cx="4114800" cy="320040"/>
          </a:xfrm>
          <a:prstGeom prst="rect">
            <a:avLst/>
          </a:prstGeom>
          <a:noFill/>
          <a:ln/>
        </p:spPr>
        <p:txBody>
          <a:bodyPr wrap="square" rtlCol="0" anchor="ctr"/>
          <a:lstStyle/>
          <a:p>
            <a:pPr marL="0" indent="0">
              <a:buNone/>
            </a:pPr>
            <a:r>
              <a:rPr lang="en-US" sz="1400" b="1" dirty="0">
                <a:solidFill>
                  <a:srgbClr val="028090"/>
                </a:solidFill>
              </a:rPr>
              <a:t>BERT Confusion Matrix</a:t>
            </a:r>
            <a:endParaRPr lang="en-US" sz="14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4754880" y="1280160"/>
          <a:ext cx="4096512" cy="1371600"/>
        </p:xfrm>
        <a:graphic>
          <a:graphicData uri="http://schemas.openxmlformats.org/drawingml/2006/table">
            <a:tbl>
              <a:tblPr/>
              <a:tblGrid>
                <a:gridCol w="1097280">
                  <a:extLst>
                    <a:ext uri="{9D8B030D-6E8A-4147-A177-3AD203B41FA5}">
                      <a16:colId xmlns:a16="http://schemas.microsoft.com/office/drawing/2014/main" val="20000"/>
                    </a:ext>
                  </a:extLst>
                </a:gridCol>
                <a:gridCol w="749808">
                  <a:extLst>
                    <a:ext uri="{9D8B030D-6E8A-4147-A177-3AD203B41FA5}">
                      <a16:colId xmlns:a16="http://schemas.microsoft.com/office/drawing/2014/main" val="20001"/>
                    </a:ext>
                  </a:extLst>
                </a:gridCol>
                <a:gridCol w="749808">
                  <a:extLst>
                    <a:ext uri="{9D8B030D-6E8A-4147-A177-3AD203B41FA5}">
                      <a16:colId xmlns:a16="http://schemas.microsoft.com/office/drawing/2014/main" val="20002"/>
                    </a:ext>
                  </a:extLst>
                </a:gridCol>
                <a:gridCol w="749808">
                  <a:extLst>
                    <a:ext uri="{9D8B030D-6E8A-4147-A177-3AD203B41FA5}">
                      <a16:colId xmlns:a16="http://schemas.microsoft.com/office/drawing/2014/main" val="20003"/>
                    </a:ext>
                  </a:extLst>
                </a:gridCol>
                <a:gridCol w="749808">
                  <a:extLst>
                    <a:ext uri="{9D8B030D-6E8A-4147-A177-3AD203B41FA5}">
                      <a16:colId xmlns:a16="http://schemas.microsoft.com/office/drawing/2014/main" val="20004"/>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Actual \ Pred</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2809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Dep</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2809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Anx</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2809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PTSD</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2809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Norm</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Depression</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446</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Anxiety</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458</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PTSD</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441</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38</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Normal</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420</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4"/>
          <p:cNvSpPr/>
          <p:nvPr/>
        </p:nvSpPr>
        <p:spPr>
          <a:xfrm>
            <a:off x="274320" y="3840480"/>
            <a:ext cx="2011680" cy="1005840"/>
          </a:xfrm>
          <a:prstGeom prst="rect">
            <a:avLst/>
          </a:prstGeom>
          <a:solidFill>
            <a:srgbClr val="FFFFFF"/>
          </a:solidFill>
          <a:ln w="12700">
            <a:solidFill>
              <a:srgbClr val="E53E3E"/>
            </a:solidFill>
            <a:prstDash val="solid"/>
          </a:ln>
          <a:effectLst>
            <a:outerShdw blurRad="101600" dist="25400" dir="8100000" algn="bl" rotWithShape="0">
              <a:srgbClr val="000000">
                <a:alpha val="10000"/>
              </a:srgbClr>
            </a:outerShdw>
          </a:effectLst>
        </p:spPr>
        <p:txBody>
          <a:bodyPr/>
          <a:lstStyle/>
          <a:p>
            <a:endParaRPr lang="en-IN"/>
          </a:p>
        </p:txBody>
      </p:sp>
      <p:sp>
        <p:nvSpPr>
          <p:cNvPr id="9" name="Shape 5"/>
          <p:cNvSpPr/>
          <p:nvPr/>
        </p:nvSpPr>
        <p:spPr>
          <a:xfrm>
            <a:off x="274320" y="3840480"/>
            <a:ext cx="109728" cy="1005840"/>
          </a:xfrm>
          <a:prstGeom prst="rect">
            <a:avLst/>
          </a:prstGeom>
          <a:solidFill>
            <a:srgbClr val="E53E3E"/>
          </a:solidFill>
          <a:ln w="12700">
            <a:solidFill>
              <a:srgbClr val="E53E3E"/>
            </a:solidFill>
            <a:prstDash val="solid"/>
          </a:ln>
        </p:spPr>
        <p:txBody>
          <a:bodyPr/>
          <a:lstStyle/>
          <a:p>
            <a:endParaRPr lang="en-IN"/>
          </a:p>
        </p:txBody>
      </p:sp>
      <p:sp>
        <p:nvSpPr>
          <p:cNvPr id="10" name="Text 6"/>
          <p:cNvSpPr/>
          <p:nvPr/>
        </p:nvSpPr>
        <p:spPr>
          <a:xfrm>
            <a:off x="457200" y="3913632"/>
            <a:ext cx="1737360" cy="320040"/>
          </a:xfrm>
          <a:prstGeom prst="rect">
            <a:avLst/>
          </a:prstGeom>
          <a:noFill/>
          <a:ln/>
        </p:spPr>
        <p:txBody>
          <a:bodyPr wrap="square" rtlCol="0" anchor="ctr"/>
          <a:lstStyle/>
          <a:p>
            <a:pPr marL="0" indent="0">
              <a:buNone/>
            </a:pPr>
            <a:r>
              <a:rPr lang="en-US" sz="1000" b="1" dirty="0">
                <a:solidFill>
                  <a:srgbClr val="E53E3E"/>
                </a:solidFill>
              </a:rPr>
              <a:t>SVM Weakest Class</a:t>
            </a:r>
            <a:endParaRPr lang="en-US" sz="1000" dirty="0"/>
          </a:p>
        </p:txBody>
      </p:sp>
      <p:sp>
        <p:nvSpPr>
          <p:cNvPr id="11" name="Text 7"/>
          <p:cNvSpPr/>
          <p:nvPr/>
        </p:nvSpPr>
        <p:spPr>
          <a:xfrm>
            <a:off x="457200" y="4224528"/>
            <a:ext cx="1737360" cy="502920"/>
          </a:xfrm>
          <a:prstGeom prst="rect">
            <a:avLst/>
          </a:prstGeom>
          <a:noFill/>
          <a:ln/>
        </p:spPr>
        <p:txBody>
          <a:bodyPr wrap="square" rtlCol="0" anchor="ctr"/>
          <a:lstStyle/>
          <a:p>
            <a:pPr marL="0" indent="0">
              <a:lnSpc>
                <a:spcPct val="120000"/>
              </a:lnSpc>
              <a:buNone/>
            </a:pPr>
            <a:r>
              <a:rPr lang="en-US" sz="1200" dirty="0">
                <a:solidFill>
                  <a:srgbClr val="0D1B2A"/>
                </a:solidFill>
              </a:rPr>
              <a:t>Normal — 73% recall</a:t>
            </a:r>
            <a:endParaRPr lang="en-US" sz="1200" dirty="0"/>
          </a:p>
        </p:txBody>
      </p:sp>
      <p:sp>
        <p:nvSpPr>
          <p:cNvPr id="12" name="Shape 8"/>
          <p:cNvSpPr/>
          <p:nvPr/>
        </p:nvSpPr>
        <p:spPr>
          <a:xfrm>
            <a:off x="2487168" y="3840480"/>
            <a:ext cx="2011680" cy="1005840"/>
          </a:xfrm>
          <a:prstGeom prst="rect">
            <a:avLst/>
          </a:prstGeom>
          <a:solidFill>
            <a:srgbClr val="FFFFFF"/>
          </a:solidFill>
          <a:ln w="12700">
            <a:solidFill>
              <a:srgbClr val="028090"/>
            </a:solidFill>
            <a:prstDash val="solid"/>
          </a:ln>
          <a:effectLst>
            <a:outerShdw blurRad="101600" dist="25400" dir="8100000" algn="bl" rotWithShape="0">
              <a:srgbClr val="000000">
                <a:alpha val="10000"/>
              </a:srgbClr>
            </a:outerShdw>
          </a:effectLst>
        </p:spPr>
        <p:txBody>
          <a:bodyPr/>
          <a:lstStyle/>
          <a:p>
            <a:endParaRPr lang="en-IN"/>
          </a:p>
        </p:txBody>
      </p:sp>
      <p:sp>
        <p:nvSpPr>
          <p:cNvPr id="13" name="Shape 9"/>
          <p:cNvSpPr/>
          <p:nvPr/>
        </p:nvSpPr>
        <p:spPr>
          <a:xfrm>
            <a:off x="2487168" y="3840480"/>
            <a:ext cx="109728" cy="1005840"/>
          </a:xfrm>
          <a:prstGeom prst="rect">
            <a:avLst/>
          </a:prstGeom>
          <a:solidFill>
            <a:srgbClr val="028090"/>
          </a:solidFill>
          <a:ln w="12700">
            <a:solidFill>
              <a:srgbClr val="028090"/>
            </a:solidFill>
            <a:prstDash val="solid"/>
          </a:ln>
        </p:spPr>
        <p:txBody>
          <a:bodyPr/>
          <a:lstStyle/>
          <a:p>
            <a:endParaRPr lang="en-IN"/>
          </a:p>
        </p:txBody>
      </p:sp>
      <p:sp>
        <p:nvSpPr>
          <p:cNvPr id="14" name="Text 10"/>
          <p:cNvSpPr/>
          <p:nvPr/>
        </p:nvSpPr>
        <p:spPr>
          <a:xfrm>
            <a:off x="2670048" y="3913632"/>
            <a:ext cx="1737360" cy="320040"/>
          </a:xfrm>
          <a:prstGeom prst="rect">
            <a:avLst/>
          </a:prstGeom>
          <a:noFill/>
          <a:ln/>
        </p:spPr>
        <p:txBody>
          <a:bodyPr wrap="square" rtlCol="0" anchor="ctr"/>
          <a:lstStyle/>
          <a:p>
            <a:pPr marL="0" indent="0">
              <a:buNone/>
            </a:pPr>
            <a:r>
              <a:rPr lang="en-US" sz="1000" b="1" dirty="0">
                <a:solidFill>
                  <a:srgbClr val="028090"/>
                </a:solidFill>
              </a:rPr>
              <a:t>BERT Weakest Class</a:t>
            </a:r>
            <a:endParaRPr lang="en-US" sz="1000" dirty="0"/>
          </a:p>
        </p:txBody>
      </p:sp>
      <p:sp>
        <p:nvSpPr>
          <p:cNvPr id="7" name="Text 11"/>
          <p:cNvSpPr/>
          <p:nvPr/>
        </p:nvSpPr>
        <p:spPr>
          <a:xfrm>
            <a:off x="2670048" y="4224528"/>
            <a:ext cx="1737360" cy="502920"/>
          </a:xfrm>
          <a:prstGeom prst="rect">
            <a:avLst/>
          </a:prstGeom>
          <a:noFill/>
          <a:ln/>
        </p:spPr>
        <p:txBody>
          <a:bodyPr wrap="square" rtlCol="0" anchor="ctr"/>
          <a:lstStyle/>
          <a:p>
            <a:pPr marL="0" indent="0">
              <a:lnSpc>
                <a:spcPct val="120000"/>
              </a:lnSpc>
              <a:buNone/>
            </a:pPr>
            <a:r>
              <a:rPr lang="en-US" sz="1200" dirty="0">
                <a:solidFill>
                  <a:srgbClr val="0D1B2A"/>
                </a:solidFill>
              </a:rPr>
              <a:t>Normal — 81% recall (+8%)</a:t>
            </a:r>
            <a:endParaRPr lang="en-US" sz="1200" dirty="0"/>
          </a:p>
        </p:txBody>
      </p:sp>
      <p:sp>
        <p:nvSpPr>
          <p:cNvPr id="16" name="Shape 12"/>
          <p:cNvSpPr/>
          <p:nvPr/>
        </p:nvSpPr>
        <p:spPr>
          <a:xfrm>
            <a:off x="4700016" y="3840480"/>
            <a:ext cx="2011680" cy="1005840"/>
          </a:xfrm>
          <a:prstGeom prst="rect">
            <a:avLst/>
          </a:prstGeom>
          <a:solidFill>
            <a:srgbClr val="FFFFFF"/>
          </a:solidFill>
          <a:ln w="12700">
            <a:solidFill>
              <a:srgbClr val="D69E2E"/>
            </a:solidFill>
            <a:prstDash val="solid"/>
          </a:ln>
          <a:effectLst>
            <a:outerShdw blurRad="101600" dist="25400" dir="8100000" algn="bl" rotWithShape="0">
              <a:srgbClr val="000000">
                <a:alpha val="10000"/>
              </a:srgbClr>
            </a:outerShdw>
          </a:effectLst>
        </p:spPr>
        <p:txBody>
          <a:bodyPr/>
          <a:lstStyle/>
          <a:p>
            <a:endParaRPr lang="en-IN"/>
          </a:p>
        </p:txBody>
      </p:sp>
      <p:sp>
        <p:nvSpPr>
          <p:cNvPr id="17" name="Shape 13"/>
          <p:cNvSpPr/>
          <p:nvPr/>
        </p:nvSpPr>
        <p:spPr>
          <a:xfrm>
            <a:off x="4700016" y="3840480"/>
            <a:ext cx="109728" cy="1005840"/>
          </a:xfrm>
          <a:prstGeom prst="rect">
            <a:avLst/>
          </a:prstGeom>
          <a:solidFill>
            <a:srgbClr val="D69E2E"/>
          </a:solidFill>
          <a:ln w="12700">
            <a:solidFill>
              <a:srgbClr val="D69E2E"/>
            </a:solidFill>
            <a:prstDash val="solid"/>
          </a:ln>
        </p:spPr>
        <p:txBody>
          <a:bodyPr/>
          <a:lstStyle/>
          <a:p>
            <a:endParaRPr lang="en-IN"/>
          </a:p>
        </p:txBody>
      </p:sp>
      <p:sp>
        <p:nvSpPr>
          <p:cNvPr id="18" name="Text 14"/>
          <p:cNvSpPr/>
          <p:nvPr/>
        </p:nvSpPr>
        <p:spPr>
          <a:xfrm>
            <a:off x="4882896" y="3913632"/>
            <a:ext cx="1737360" cy="320040"/>
          </a:xfrm>
          <a:prstGeom prst="rect">
            <a:avLst/>
          </a:prstGeom>
          <a:noFill/>
          <a:ln/>
        </p:spPr>
        <p:txBody>
          <a:bodyPr wrap="square" rtlCol="0" anchor="ctr"/>
          <a:lstStyle/>
          <a:p>
            <a:pPr marL="0" indent="0">
              <a:buNone/>
            </a:pPr>
            <a:r>
              <a:rPr lang="en-US" sz="1000" b="1" dirty="0">
                <a:solidFill>
                  <a:srgbClr val="D69E2E"/>
                </a:solidFill>
              </a:rPr>
              <a:t>BERT Best Gain</a:t>
            </a:r>
            <a:endParaRPr lang="en-US" sz="1000" dirty="0"/>
          </a:p>
        </p:txBody>
      </p:sp>
      <p:sp>
        <p:nvSpPr>
          <p:cNvPr id="19" name="Text 15"/>
          <p:cNvSpPr/>
          <p:nvPr/>
        </p:nvSpPr>
        <p:spPr>
          <a:xfrm>
            <a:off x="4882896" y="4224528"/>
            <a:ext cx="1737360" cy="502920"/>
          </a:xfrm>
          <a:prstGeom prst="rect">
            <a:avLst/>
          </a:prstGeom>
          <a:noFill/>
          <a:ln/>
        </p:spPr>
        <p:txBody>
          <a:bodyPr wrap="square" rtlCol="0" anchor="ctr"/>
          <a:lstStyle/>
          <a:p>
            <a:pPr marL="0" indent="0">
              <a:lnSpc>
                <a:spcPct val="120000"/>
              </a:lnSpc>
              <a:buNone/>
            </a:pPr>
            <a:r>
              <a:rPr lang="en-US" sz="1200" dirty="0">
                <a:solidFill>
                  <a:srgbClr val="0D1B2A"/>
                </a:solidFill>
              </a:rPr>
              <a:t>Anxiety &amp; Normal classes</a:t>
            </a:r>
            <a:endParaRPr lang="en-US" sz="1200" dirty="0"/>
          </a:p>
        </p:txBody>
      </p:sp>
      <p:sp>
        <p:nvSpPr>
          <p:cNvPr id="20" name="Shape 16"/>
          <p:cNvSpPr/>
          <p:nvPr/>
        </p:nvSpPr>
        <p:spPr>
          <a:xfrm>
            <a:off x="6912864" y="3840480"/>
            <a:ext cx="2011680" cy="1005840"/>
          </a:xfrm>
          <a:prstGeom prst="rect">
            <a:avLst/>
          </a:prstGeom>
          <a:solidFill>
            <a:srgbClr val="FFFFFF"/>
          </a:solidFill>
          <a:ln w="12700">
            <a:solidFill>
              <a:srgbClr val="38A169"/>
            </a:solidFill>
            <a:prstDash val="solid"/>
          </a:ln>
          <a:effectLst>
            <a:outerShdw blurRad="101600" dist="25400" dir="8100000" algn="bl" rotWithShape="0">
              <a:srgbClr val="000000">
                <a:alpha val="10000"/>
              </a:srgbClr>
            </a:outerShdw>
          </a:effectLst>
        </p:spPr>
        <p:txBody>
          <a:bodyPr/>
          <a:lstStyle/>
          <a:p>
            <a:endParaRPr lang="en-IN"/>
          </a:p>
        </p:txBody>
      </p:sp>
      <p:sp>
        <p:nvSpPr>
          <p:cNvPr id="21" name="Shape 17"/>
          <p:cNvSpPr/>
          <p:nvPr/>
        </p:nvSpPr>
        <p:spPr>
          <a:xfrm>
            <a:off x="6912864" y="3840480"/>
            <a:ext cx="109728" cy="1005840"/>
          </a:xfrm>
          <a:prstGeom prst="rect">
            <a:avLst/>
          </a:prstGeom>
          <a:solidFill>
            <a:srgbClr val="38A169"/>
          </a:solidFill>
          <a:ln w="12700">
            <a:solidFill>
              <a:srgbClr val="38A169"/>
            </a:solidFill>
            <a:prstDash val="solid"/>
          </a:ln>
        </p:spPr>
        <p:txBody>
          <a:bodyPr/>
          <a:lstStyle/>
          <a:p>
            <a:endParaRPr lang="en-IN"/>
          </a:p>
        </p:txBody>
      </p:sp>
      <p:sp>
        <p:nvSpPr>
          <p:cNvPr id="22" name="Text 18"/>
          <p:cNvSpPr/>
          <p:nvPr/>
        </p:nvSpPr>
        <p:spPr>
          <a:xfrm>
            <a:off x="7095744" y="3913632"/>
            <a:ext cx="1737360" cy="320040"/>
          </a:xfrm>
          <a:prstGeom prst="rect">
            <a:avLst/>
          </a:prstGeom>
          <a:noFill/>
          <a:ln/>
        </p:spPr>
        <p:txBody>
          <a:bodyPr wrap="square" rtlCol="0" anchor="ctr"/>
          <a:lstStyle/>
          <a:p>
            <a:pPr marL="0" indent="0">
              <a:buNone/>
            </a:pPr>
            <a:r>
              <a:rPr lang="en-US" sz="1000" b="1" dirty="0">
                <a:solidFill>
                  <a:srgbClr val="38A169"/>
                </a:solidFill>
              </a:rPr>
              <a:t>Overall BERT Gain</a:t>
            </a:r>
            <a:endParaRPr lang="en-US" sz="1000" dirty="0"/>
          </a:p>
        </p:txBody>
      </p:sp>
      <p:sp>
        <p:nvSpPr>
          <p:cNvPr id="23" name="Text 19"/>
          <p:cNvSpPr/>
          <p:nvPr/>
        </p:nvSpPr>
        <p:spPr>
          <a:xfrm>
            <a:off x="7095744" y="4224528"/>
            <a:ext cx="1737360" cy="502920"/>
          </a:xfrm>
          <a:prstGeom prst="rect">
            <a:avLst/>
          </a:prstGeom>
          <a:noFill/>
          <a:ln/>
        </p:spPr>
        <p:txBody>
          <a:bodyPr wrap="square" rtlCol="0" anchor="ctr"/>
          <a:lstStyle/>
          <a:p>
            <a:pPr marL="0" indent="0">
              <a:lnSpc>
                <a:spcPct val="120000"/>
              </a:lnSpc>
              <a:buNone/>
            </a:pPr>
            <a:r>
              <a:rPr lang="en-US" sz="1200" dirty="0">
                <a:solidFill>
                  <a:srgbClr val="0D1B2A"/>
                </a:solidFill>
              </a:rPr>
              <a:t>+3.5% over SVM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65760" y="0"/>
            <a:ext cx="8229600" cy="82296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Per-Class Model Performance</a:t>
            </a:r>
            <a:endParaRPr lang="en-US" sz="2600" dirty="0"/>
          </a:p>
        </p:txBody>
      </p:sp>
      <p:graphicFrame>
        <p:nvGraphicFramePr>
          <p:cNvPr id="4" name="Chart 0"/>
          <p:cNvGraphicFramePr/>
          <p:nvPr/>
        </p:nvGraphicFramePr>
        <p:xfrm>
          <a:off x="274320" y="914400"/>
          <a:ext cx="859536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274320" y="4069080"/>
            <a:ext cx="4114800" cy="82296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6" name="Shape 3"/>
          <p:cNvSpPr/>
          <p:nvPr/>
        </p:nvSpPr>
        <p:spPr>
          <a:xfrm>
            <a:off x="274320" y="4069080"/>
            <a:ext cx="109728" cy="822960"/>
          </a:xfrm>
          <a:prstGeom prst="rect">
            <a:avLst/>
          </a:prstGeom>
          <a:solidFill>
            <a:srgbClr val="475569"/>
          </a:solidFill>
          <a:ln w="12700">
            <a:solidFill>
              <a:srgbClr val="475569"/>
            </a:solidFill>
            <a:prstDash val="solid"/>
          </a:ln>
        </p:spPr>
        <p:txBody>
          <a:bodyPr/>
          <a:lstStyle/>
          <a:p>
            <a:endParaRPr lang="en-IN"/>
          </a:p>
        </p:txBody>
      </p:sp>
      <p:sp>
        <p:nvSpPr>
          <p:cNvPr id="7" name="Text 4"/>
          <p:cNvSpPr/>
          <p:nvPr/>
        </p:nvSpPr>
        <p:spPr>
          <a:xfrm>
            <a:off x="475488" y="4114800"/>
            <a:ext cx="3749040" cy="274320"/>
          </a:xfrm>
          <a:prstGeom prst="rect">
            <a:avLst/>
          </a:prstGeom>
          <a:noFill/>
          <a:ln/>
        </p:spPr>
        <p:txBody>
          <a:bodyPr wrap="square" rtlCol="0" anchor="ctr"/>
          <a:lstStyle/>
          <a:p>
            <a:pPr marL="0" indent="0">
              <a:buNone/>
            </a:pPr>
            <a:r>
              <a:rPr lang="en-US" sz="1200" b="1" dirty="0">
                <a:solidFill>
                  <a:srgbClr val="475569"/>
                </a:solidFill>
              </a:rPr>
              <a:t>SVM Strengths</a:t>
            </a:r>
            <a:endParaRPr lang="en-US" sz="1200" dirty="0"/>
          </a:p>
        </p:txBody>
      </p:sp>
      <p:sp>
        <p:nvSpPr>
          <p:cNvPr id="8" name="Text 5"/>
          <p:cNvSpPr/>
          <p:nvPr/>
        </p:nvSpPr>
        <p:spPr>
          <a:xfrm>
            <a:off x="475488" y="4389120"/>
            <a:ext cx="3749040" cy="411480"/>
          </a:xfrm>
          <a:prstGeom prst="rect">
            <a:avLst/>
          </a:prstGeom>
          <a:noFill/>
          <a:ln/>
        </p:spPr>
        <p:txBody>
          <a:bodyPr wrap="square" rtlCol="0" anchor="ctr"/>
          <a:lstStyle/>
          <a:p>
            <a:pPr marL="0" indent="0">
              <a:lnSpc>
                <a:spcPct val="120000"/>
              </a:lnSpc>
              <a:buNone/>
            </a:pPr>
            <a:r>
              <a:rPr lang="en-US" sz="1100" dirty="0">
                <a:solidFill>
                  <a:srgbClr val="64748B"/>
                </a:solidFill>
              </a:rPr>
              <a:t>Fast training · Interpretable · Works well with high-dimensional sparse text features</a:t>
            </a:r>
            <a:endParaRPr lang="en-US" sz="1100" dirty="0"/>
          </a:p>
        </p:txBody>
      </p:sp>
      <p:sp>
        <p:nvSpPr>
          <p:cNvPr id="9" name="Shape 6"/>
          <p:cNvSpPr/>
          <p:nvPr/>
        </p:nvSpPr>
        <p:spPr>
          <a:xfrm>
            <a:off x="4846320" y="4069080"/>
            <a:ext cx="4114800" cy="82296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10" name="Shape 7"/>
          <p:cNvSpPr/>
          <p:nvPr/>
        </p:nvSpPr>
        <p:spPr>
          <a:xfrm>
            <a:off x="4846320" y="4069080"/>
            <a:ext cx="109728" cy="822960"/>
          </a:xfrm>
          <a:prstGeom prst="rect">
            <a:avLst/>
          </a:prstGeom>
          <a:solidFill>
            <a:srgbClr val="028090"/>
          </a:solidFill>
          <a:ln w="12700">
            <a:solidFill>
              <a:srgbClr val="028090"/>
            </a:solidFill>
            <a:prstDash val="solid"/>
          </a:ln>
        </p:spPr>
        <p:txBody>
          <a:bodyPr/>
          <a:lstStyle/>
          <a:p>
            <a:endParaRPr lang="en-IN"/>
          </a:p>
        </p:txBody>
      </p:sp>
      <p:sp>
        <p:nvSpPr>
          <p:cNvPr id="11" name="Text 8"/>
          <p:cNvSpPr/>
          <p:nvPr/>
        </p:nvSpPr>
        <p:spPr>
          <a:xfrm>
            <a:off x="5047488" y="4114800"/>
            <a:ext cx="3749040" cy="274320"/>
          </a:xfrm>
          <a:prstGeom prst="rect">
            <a:avLst/>
          </a:prstGeom>
          <a:noFill/>
          <a:ln/>
        </p:spPr>
        <p:txBody>
          <a:bodyPr wrap="square" rtlCol="0" anchor="ctr"/>
          <a:lstStyle/>
          <a:p>
            <a:pPr marL="0" indent="0">
              <a:buNone/>
            </a:pPr>
            <a:r>
              <a:rPr lang="en-US" sz="1200" b="1" dirty="0">
                <a:solidFill>
                  <a:srgbClr val="028090"/>
                </a:solidFill>
              </a:rPr>
              <a:t>BERT Strengths</a:t>
            </a:r>
            <a:endParaRPr lang="en-US" sz="1200" dirty="0"/>
          </a:p>
        </p:txBody>
      </p:sp>
      <p:sp>
        <p:nvSpPr>
          <p:cNvPr id="12" name="Text 9"/>
          <p:cNvSpPr/>
          <p:nvPr/>
        </p:nvSpPr>
        <p:spPr>
          <a:xfrm>
            <a:off x="5047488" y="4389120"/>
            <a:ext cx="3749040" cy="411480"/>
          </a:xfrm>
          <a:prstGeom prst="rect">
            <a:avLst/>
          </a:prstGeom>
          <a:noFill/>
          <a:ln/>
        </p:spPr>
        <p:txBody>
          <a:bodyPr wrap="square" rtlCol="0" anchor="ctr"/>
          <a:lstStyle/>
          <a:p>
            <a:pPr marL="0" indent="0">
              <a:lnSpc>
                <a:spcPct val="120000"/>
              </a:lnSpc>
              <a:buNone/>
            </a:pPr>
            <a:r>
              <a:rPr lang="en-US" sz="1100" dirty="0">
                <a:solidFill>
                  <a:srgbClr val="64748B"/>
                </a:solidFill>
              </a:rPr>
              <a:t>Understands sentence context &amp; nuance · Biggest gains in Anxiety &amp; Normal classes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6B46C1"/>
          </a:solidFill>
          <a:ln w="12700">
            <a:solidFill>
              <a:srgbClr val="6B46C1"/>
            </a:solidFill>
            <a:prstDash val="solid"/>
          </a:ln>
        </p:spPr>
        <p:txBody>
          <a:bodyPr/>
          <a:lstStyle/>
          <a:p>
            <a:endParaRPr lang="en-IN"/>
          </a:p>
        </p:txBody>
      </p:sp>
      <p:sp>
        <p:nvSpPr>
          <p:cNvPr id="3" name="Text 1"/>
          <p:cNvSpPr/>
          <p:nvPr/>
        </p:nvSpPr>
        <p:spPr>
          <a:xfrm>
            <a:off x="365760" y="0"/>
            <a:ext cx="8229600" cy="82296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Ethical Considerations</a:t>
            </a:r>
            <a:endParaRPr lang="en-US" sz="2600" dirty="0"/>
          </a:p>
        </p:txBody>
      </p:sp>
      <p:sp>
        <p:nvSpPr>
          <p:cNvPr id="4" name="Shape 2"/>
          <p:cNvSpPr/>
          <p:nvPr/>
        </p:nvSpPr>
        <p:spPr>
          <a:xfrm>
            <a:off x="274320" y="960120"/>
            <a:ext cx="2743200" cy="169164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5" name="Shape 3"/>
          <p:cNvSpPr/>
          <p:nvPr/>
        </p:nvSpPr>
        <p:spPr>
          <a:xfrm>
            <a:off x="411480" y="1097280"/>
            <a:ext cx="548640" cy="548640"/>
          </a:xfrm>
          <a:prstGeom prst="ellipse">
            <a:avLst/>
          </a:prstGeom>
          <a:solidFill>
            <a:srgbClr val="E53E3E"/>
          </a:solidFill>
          <a:ln w="12700">
            <a:solidFill>
              <a:srgbClr val="E53E3E"/>
            </a:solidFill>
            <a:prstDash val="solid"/>
          </a:ln>
        </p:spPr>
        <p:txBody>
          <a:bodyPr/>
          <a:lstStyle/>
          <a:p>
            <a:endParaRPr lang="en-IN"/>
          </a:p>
        </p:txBody>
      </p:sp>
      <p:sp>
        <p:nvSpPr>
          <p:cNvPr id="6" name="Text 4"/>
          <p:cNvSpPr/>
          <p:nvPr/>
        </p:nvSpPr>
        <p:spPr>
          <a:xfrm>
            <a:off x="411480" y="1097280"/>
            <a:ext cx="54864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7" name="Text 5"/>
          <p:cNvSpPr/>
          <p:nvPr/>
        </p:nvSpPr>
        <p:spPr>
          <a:xfrm>
            <a:off x="1051560" y="1124712"/>
            <a:ext cx="1828800" cy="320040"/>
          </a:xfrm>
          <a:prstGeom prst="rect">
            <a:avLst/>
          </a:prstGeom>
          <a:noFill/>
          <a:ln/>
        </p:spPr>
        <p:txBody>
          <a:bodyPr wrap="square" rtlCol="0" anchor="ctr"/>
          <a:lstStyle/>
          <a:p>
            <a:pPr marL="0" indent="0">
              <a:buNone/>
            </a:pPr>
            <a:r>
              <a:rPr lang="en-US" sz="1300" b="1" dirty="0">
                <a:solidFill>
                  <a:srgbClr val="E53E3E"/>
                </a:solidFill>
              </a:rPr>
              <a:t>Consent</a:t>
            </a:r>
            <a:endParaRPr lang="en-US" sz="1300" dirty="0"/>
          </a:p>
        </p:txBody>
      </p:sp>
      <p:sp>
        <p:nvSpPr>
          <p:cNvPr id="8" name="Text 6"/>
          <p:cNvSpPr/>
          <p:nvPr/>
        </p:nvSpPr>
        <p:spPr>
          <a:xfrm>
            <a:off x="411480" y="1737360"/>
            <a:ext cx="2468880" cy="822960"/>
          </a:xfrm>
          <a:prstGeom prst="rect">
            <a:avLst/>
          </a:prstGeom>
          <a:noFill/>
          <a:ln/>
        </p:spPr>
        <p:txBody>
          <a:bodyPr wrap="square" rtlCol="0" anchor="ctr"/>
          <a:lstStyle/>
          <a:p>
            <a:pPr marL="0" indent="0">
              <a:lnSpc>
                <a:spcPct val="130000"/>
              </a:lnSpc>
              <a:buNone/>
            </a:pPr>
            <a:r>
              <a:rPr lang="en-US" sz="1100" dirty="0">
                <a:solidFill>
                  <a:srgbClr val="64748B"/>
                </a:solidFill>
              </a:rPr>
              <a:t>Users didn't explicitly consent to mental health classification from their posts</a:t>
            </a:r>
            <a:endParaRPr lang="en-US" sz="1100" dirty="0"/>
          </a:p>
        </p:txBody>
      </p:sp>
      <p:sp>
        <p:nvSpPr>
          <p:cNvPr id="9" name="Shape 7"/>
          <p:cNvSpPr/>
          <p:nvPr/>
        </p:nvSpPr>
        <p:spPr>
          <a:xfrm>
            <a:off x="3200400" y="960120"/>
            <a:ext cx="2743200" cy="169164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10" name="Shape 8"/>
          <p:cNvSpPr/>
          <p:nvPr/>
        </p:nvSpPr>
        <p:spPr>
          <a:xfrm>
            <a:off x="3337560" y="1097280"/>
            <a:ext cx="548640" cy="548640"/>
          </a:xfrm>
          <a:prstGeom prst="ellipse">
            <a:avLst/>
          </a:prstGeom>
          <a:solidFill>
            <a:srgbClr val="D69E2E"/>
          </a:solidFill>
          <a:ln w="12700">
            <a:solidFill>
              <a:srgbClr val="D69E2E"/>
            </a:solidFill>
            <a:prstDash val="solid"/>
          </a:ln>
        </p:spPr>
        <p:txBody>
          <a:bodyPr/>
          <a:lstStyle/>
          <a:p>
            <a:endParaRPr lang="en-IN"/>
          </a:p>
        </p:txBody>
      </p:sp>
      <p:sp>
        <p:nvSpPr>
          <p:cNvPr id="11" name="Text 9"/>
          <p:cNvSpPr/>
          <p:nvPr/>
        </p:nvSpPr>
        <p:spPr>
          <a:xfrm>
            <a:off x="3337560" y="1097280"/>
            <a:ext cx="54864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2" name="Text 10"/>
          <p:cNvSpPr/>
          <p:nvPr/>
        </p:nvSpPr>
        <p:spPr>
          <a:xfrm>
            <a:off x="3977640" y="1124712"/>
            <a:ext cx="1828800" cy="320040"/>
          </a:xfrm>
          <a:prstGeom prst="rect">
            <a:avLst/>
          </a:prstGeom>
          <a:noFill/>
          <a:ln/>
        </p:spPr>
        <p:txBody>
          <a:bodyPr wrap="square" rtlCol="0" anchor="ctr"/>
          <a:lstStyle/>
          <a:p>
            <a:pPr marL="0" indent="0">
              <a:buNone/>
            </a:pPr>
            <a:r>
              <a:rPr lang="en-US" sz="1300" b="1" dirty="0">
                <a:solidFill>
                  <a:srgbClr val="D69E2E"/>
                </a:solidFill>
              </a:rPr>
              <a:t>Misclassification</a:t>
            </a:r>
            <a:endParaRPr lang="en-US" sz="1300" dirty="0"/>
          </a:p>
        </p:txBody>
      </p:sp>
      <p:sp>
        <p:nvSpPr>
          <p:cNvPr id="13" name="Text 11"/>
          <p:cNvSpPr/>
          <p:nvPr/>
        </p:nvSpPr>
        <p:spPr>
          <a:xfrm>
            <a:off x="3337560" y="1737360"/>
            <a:ext cx="2468880" cy="822960"/>
          </a:xfrm>
          <a:prstGeom prst="rect">
            <a:avLst/>
          </a:prstGeom>
          <a:noFill/>
          <a:ln/>
        </p:spPr>
        <p:txBody>
          <a:bodyPr wrap="square" rtlCol="0" anchor="ctr"/>
          <a:lstStyle/>
          <a:p>
            <a:pPr marL="0" indent="0">
              <a:lnSpc>
                <a:spcPct val="130000"/>
              </a:lnSpc>
              <a:buNone/>
            </a:pPr>
            <a:r>
              <a:rPr lang="en-US" sz="1100" dirty="0">
                <a:solidFill>
                  <a:srgbClr val="64748B"/>
                </a:solidFill>
              </a:rPr>
              <a:t>Misclassifying normal posts can lead to unnecessary stigmatization</a:t>
            </a:r>
            <a:endParaRPr lang="en-US" sz="1100" dirty="0"/>
          </a:p>
        </p:txBody>
      </p:sp>
      <p:sp>
        <p:nvSpPr>
          <p:cNvPr id="14" name="Shape 12"/>
          <p:cNvSpPr/>
          <p:nvPr/>
        </p:nvSpPr>
        <p:spPr>
          <a:xfrm>
            <a:off x="6126480" y="960120"/>
            <a:ext cx="2743200" cy="169164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15" name="Shape 13"/>
          <p:cNvSpPr/>
          <p:nvPr/>
        </p:nvSpPr>
        <p:spPr>
          <a:xfrm>
            <a:off x="6263640" y="1097280"/>
            <a:ext cx="548640" cy="548640"/>
          </a:xfrm>
          <a:prstGeom prst="ellipse">
            <a:avLst/>
          </a:prstGeom>
          <a:solidFill>
            <a:srgbClr val="6B46C1"/>
          </a:solidFill>
          <a:ln w="12700">
            <a:solidFill>
              <a:srgbClr val="6B46C1"/>
            </a:solidFill>
            <a:prstDash val="solid"/>
          </a:ln>
        </p:spPr>
        <p:txBody>
          <a:bodyPr/>
          <a:lstStyle/>
          <a:p>
            <a:endParaRPr lang="en-IN"/>
          </a:p>
        </p:txBody>
      </p:sp>
      <p:sp>
        <p:nvSpPr>
          <p:cNvPr id="16" name="Text 14"/>
          <p:cNvSpPr/>
          <p:nvPr/>
        </p:nvSpPr>
        <p:spPr>
          <a:xfrm>
            <a:off x="6263640" y="1097280"/>
            <a:ext cx="54864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7" name="Text 15"/>
          <p:cNvSpPr/>
          <p:nvPr/>
        </p:nvSpPr>
        <p:spPr>
          <a:xfrm>
            <a:off x="6903720" y="1124712"/>
            <a:ext cx="1828800" cy="320040"/>
          </a:xfrm>
          <a:prstGeom prst="rect">
            <a:avLst/>
          </a:prstGeom>
          <a:noFill/>
          <a:ln/>
        </p:spPr>
        <p:txBody>
          <a:bodyPr wrap="square" rtlCol="0" anchor="ctr"/>
          <a:lstStyle/>
          <a:p>
            <a:pPr marL="0" indent="0">
              <a:buNone/>
            </a:pPr>
            <a:r>
              <a:rPr lang="en-US" sz="1300" b="1" dirty="0">
                <a:solidFill>
                  <a:srgbClr val="6B46C1"/>
                </a:solidFill>
              </a:rPr>
              <a:t>Data Bias</a:t>
            </a:r>
            <a:endParaRPr lang="en-US" sz="1300" dirty="0"/>
          </a:p>
        </p:txBody>
      </p:sp>
      <p:sp>
        <p:nvSpPr>
          <p:cNvPr id="18" name="Text 16"/>
          <p:cNvSpPr/>
          <p:nvPr/>
        </p:nvSpPr>
        <p:spPr>
          <a:xfrm>
            <a:off x="6263640" y="1737360"/>
            <a:ext cx="2468880" cy="822960"/>
          </a:xfrm>
          <a:prstGeom prst="rect">
            <a:avLst/>
          </a:prstGeom>
          <a:noFill/>
          <a:ln/>
        </p:spPr>
        <p:txBody>
          <a:bodyPr wrap="square" rtlCol="0" anchor="ctr"/>
          <a:lstStyle/>
          <a:p>
            <a:pPr marL="0" indent="0">
              <a:lnSpc>
                <a:spcPct val="130000"/>
              </a:lnSpc>
              <a:buNone/>
            </a:pPr>
            <a:r>
              <a:rPr lang="en-US" sz="1100" dirty="0">
                <a:solidFill>
                  <a:srgbClr val="64748B"/>
                </a:solidFill>
              </a:rPr>
              <a:t>Training data may be biased toward certain demographics or cultural backgrounds</a:t>
            </a:r>
            <a:endParaRPr lang="en-US" sz="1100" dirty="0"/>
          </a:p>
        </p:txBody>
      </p:sp>
      <p:sp>
        <p:nvSpPr>
          <p:cNvPr id="19" name="Shape 17"/>
          <p:cNvSpPr/>
          <p:nvPr/>
        </p:nvSpPr>
        <p:spPr>
          <a:xfrm>
            <a:off x="274320" y="2880360"/>
            <a:ext cx="2743200" cy="169164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20" name="Shape 18"/>
          <p:cNvSpPr/>
          <p:nvPr/>
        </p:nvSpPr>
        <p:spPr>
          <a:xfrm>
            <a:off x="411480" y="3017520"/>
            <a:ext cx="548640" cy="548640"/>
          </a:xfrm>
          <a:prstGeom prst="ellipse">
            <a:avLst/>
          </a:prstGeom>
          <a:solidFill>
            <a:srgbClr val="E53E3E"/>
          </a:solidFill>
          <a:ln w="12700">
            <a:solidFill>
              <a:srgbClr val="E53E3E"/>
            </a:solidFill>
            <a:prstDash val="solid"/>
          </a:ln>
        </p:spPr>
        <p:txBody>
          <a:bodyPr/>
          <a:lstStyle/>
          <a:p>
            <a:endParaRPr lang="en-IN"/>
          </a:p>
        </p:txBody>
      </p:sp>
      <p:sp>
        <p:nvSpPr>
          <p:cNvPr id="21" name="Text 19"/>
          <p:cNvSpPr/>
          <p:nvPr/>
        </p:nvSpPr>
        <p:spPr>
          <a:xfrm>
            <a:off x="411480" y="3017520"/>
            <a:ext cx="54864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2" name="Text 20"/>
          <p:cNvSpPr/>
          <p:nvPr/>
        </p:nvSpPr>
        <p:spPr>
          <a:xfrm>
            <a:off x="1051560" y="3044952"/>
            <a:ext cx="1828800" cy="320040"/>
          </a:xfrm>
          <a:prstGeom prst="rect">
            <a:avLst/>
          </a:prstGeom>
          <a:noFill/>
          <a:ln/>
        </p:spPr>
        <p:txBody>
          <a:bodyPr wrap="square" rtlCol="0" anchor="ctr"/>
          <a:lstStyle/>
          <a:p>
            <a:pPr marL="0" indent="0">
              <a:buNone/>
            </a:pPr>
            <a:r>
              <a:rPr lang="en-US" sz="1300" b="1" dirty="0">
                <a:solidFill>
                  <a:srgbClr val="E53E3E"/>
                </a:solidFill>
              </a:rPr>
              <a:t>Surveillance Risk</a:t>
            </a:r>
            <a:endParaRPr lang="en-US" sz="1300" dirty="0"/>
          </a:p>
        </p:txBody>
      </p:sp>
      <p:sp>
        <p:nvSpPr>
          <p:cNvPr id="23" name="Text 21"/>
          <p:cNvSpPr/>
          <p:nvPr/>
        </p:nvSpPr>
        <p:spPr>
          <a:xfrm>
            <a:off x="411480" y="3657600"/>
            <a:ext cx="2468880" cy="822960"/>
          </a:xfrm>
          <a:prstGeom prst="rect">
            <a:avLst/>
          </a:prstGeom>
          <a:noFill/>
          <a:ln/>
        </p:spPr>
        <p:txBody>
          <a:bodyPr wrap="square" rtlCol="0" anchor="ctr"/>
          <a:lstStyle/>
          <a:p>
            <a:pPr marL="0" indent="0">
              <a:lnSpc>
                <a:spcPct val="130000"/>
              </a:lnSpc>
              <a:buNone/>
            </a:pPr>
            <a:r>
              <a:rPr lang="en-US" sz="1100" dirty="0">
                <a:solidFill>
                  <a:srgbClr val="64748B"/>
                </a:solidFill>
              </a:rPr>
              <a:t>Risk of misuse for surveillance by employers or governments</a:t>
            </a:r>
            <a:endParaRPr lang="en-US" sz="1100" dirty="0"/>
          </a:p>
        </p:txBody>
      </p:sp>
      <p:sp>
        <p:nvSpPr>
          <p:cNvPr id="24" name="Shape 22"/>
          <p:cNvSpPr/>
          <p:nvPr/>
        </p:nvSpPr>
        <p:spPr>
          <a:xfrm>
            <a:off x="3200400" y="2880360"/>
            <a:ext cx="2743200" cy="169164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25" name="Shape 23"/>
          <p:cNvSpPr/>
          <p:nvPr/>
        </p:nvSpPr>
        <p:spPr>
          <a:xfrm>
            <a:off x="3337560" y="3017520"/>
            <a:ext cx="548640" cy="548640"/>
          </a:xfrm>
          <a:prstGeom prst="ellipse">
            <a:avLst/>
          </a:prstGeom>
          <a:solidFill>
            <a:srgbClr val="028090"/>
          </a:solidFill>
          <a:ln w="12700">
            <a:solidFill>
              <a:srgbClr val="028090"/>
            </a:solidFill>
            <a:prstDash val="solid"/>
          </a:ln>
        </p:spPr>
        <p:txBody>
          <a:bodyPr/>
          <a:lstStyle/>
          <a:p>
            <a:endParaRPr lang="en-IN"/>
          </a:p>
        </p:txBody>
      </p:sp>
      <p:sp>
        <p:nvSpPr>
          <p:cNvPr id="26" name="Text 24"/>
          <p:cNvSpPr/>
          <p:nvPr/>
        </p:nvSpPr>
        <p:spPr>
          <a:xfrm>
            <a:off x="3337560" y="3017520"/>
            <a:ext cx="54864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7" name="Text 25"/>
          <p:cNvSpPr/>
          <p:nvPr/>
        </p:nvSpPr>
        <p:spPr>
          <a:xfrm>
            <a:off x="3977640" y="3044952"/>
            <a:ext cx="1828800" cy="320040"/>
          </a:xfrm>
          <a:prstGeom prst="rect">
            <a:avLst/>
          </a:prstGeom>
          <a:noFill/>
          <a:ln/>
        </p:spPr>
        <p:txBody>
          <a:bodyPr wrap="square" rtlCol="0" anchor="ctr"/>
          <a:lstStyle/>
          <a:p>
            <a:pPr marL="0" indent="0">
              <a:buNone/>
            </a:pPr>
            <a:r>
              <a:rPr lang="en-US" sz="1300" b="1" dirty="0">
                <a:solidFill>
                  <a:srgbClr val="028090"/>
                </a:solidFill>
              </a:rPr>
              <a:t>Human Oversight</a:t>
            </a:r>
            <a:endParaRPr lang="en-US" sz="1300" dirty="0"/>
          </a:p>
        </p:txBody>
      </p:sp>
      <p:sp>
        <p:nvSpPr>
          <p:cNvPr id="28" name="Text 26"/>
          <p:cNvSpPr/>
          <p:nvPr/>
        </p:nvSpPr>
        <p:spPr>
          <a:xfrm>
            <a:off x="3337560" y="3657600"/>
            <a:ext cx="2468880" cy="822960"/>
          </a:xfrm>
          <a:prstGeom prst="rect">
            <a:avLst/>
          </a:prstGeom>
          <a:noFill/>
          <a:ln/>
        </p:spPr>
        <p:txBody>
          <a:bodyPr wrap="square" rtlCol="0" anchor="ctr"/>
          <a:lstStyle/>
          <a:p>
            <a:pPr marL="0" indent="0">
              <a:lnSpc>
                <a:spcPct val="130000"/>
              </a:lnSpc>
              <a:buNone/>
            </a:pPr>
            <a:r>
              <a:rPr lang="en-US" sz="1100" dirty="0">
                <a:solidFill>
                  <a:srgbClr val="64748B"/>
                </a:solidFill>
              </a:rPr>
              <a:t>Model should only assist human reviewers — never replace clinical diagnosis</a:t>
            </a:r>
            <a:endParaRPr lang="en-US" sz="1100" dirty="0"/>
          </a:p>
        </p:txBody>
      </p:sp>
      <p:sp>
        <p:nvSpPr>
          <p:cNvPr id="29" name="Shape 27"/>
          <p:cNvSpPr/>
          <p:nvPr/>
        </p:nvSpPr>
        <p:spPr>
          <a:xfrm>
            <a:off x="6126480" y="2880360"/>
            <a:ext cx="2743200" cy="169164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30" name="Shape 28"/>
          <p:cNvSpPr/>
          <p:nvPr/>
        </p:nvSpPr>
        <p:spPr>
          <a:xfrm>
            <a:off x="6263640" y="3017520"/>
            <a:ext cx="548640" cy="548640"/>
          </a:xfrm>
          <a:prstGeom prst="ellipse">
            <a:avLst/>
          </a:prstGeom>
          <a:solidFill>
            <a:srgbClr val="38A169"/>
          </a:solidFill>
          <a:ln w="12700">
            <a:solidFill>
              <a:srgbClr val="38A169"/>
            </a:solidFill>
            <a:prstDash val="solid"/>
          </a:ln>
        </p:spPr>
        <p:txBody>
          <a:bodyPr/>
          <a:lstStyle/>
          <a:p>
            <a:endParaRPr lang="en-IN"/>
          </a:p>
        </p:txBody>
      </p:sp>
      <p:sp>
        <p:nvSpPr>
          <p:cNvPr id="31" name="Text 29"/>
          <p:cNvSpPr/>
          <p:nvPr/>
        </p:nvSpPr>
        <p:spPr>
          <a:xfrm>
            <a:off x="6263640" y="3017520"/>
            <a:ext cx="54864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32" name="Text 30"/>
          <p:cNvSpPr/>
          <p:nvPr/>
        </p:nvSpPr>
        <p:spPr>
          <a:xfrm>
            <a:off x="6903720" y="3044952"/>
            <a:ext cx="1828800" cy="320040"/>
          </a:xfrm>
          <a:prstGeom prst="rect">
            <a:avLst/>
          </a:prstGeom>
          <a:noFill/>
          <a:ln/>
        </p:spPr>
        <p:txBody>
          <a:bodyPr wrap="square" rtlCol="0" anchor="ctr"/>
          <a:lstStyle/>
          <a:p>
            <a:pPr marL="0" indent="0">
              <a:buNone/>
            </a:pPr>
            <a:r>
              <a:rPr lang="en-US" sz="1300" b="1" dirty="0">
                <a:solidFill>
                  <a:srgbClr val="38A169"/>
                </a:solidFill>
              </a:rPr>
              <a:t>Privacy</a:t>
            </a:r>
            <a:endParaRPr lang="en-US" sz="1300" dirty="0"/>
          </a:p>
        </p:txBody>
      </p:sp>
      <p:sp>
        <p:nvSpPr>
          <p:cNvPr id="33" name="Text 31"/>
          <p:cNvSpPr/>
          <p:nvPr/>
        </p:nvSpPr>
        <p:spPr>
          <a:xfrm>
            <a:off x="6263640" y="3657600"/>
            <a:ext cx="2468880" cy="822960"/>
          </a:xfrm>
          <a:prstGeom prst="rect">
            <a:avLst/>
          </a:prstGeom>
          <a:noFill/>
          <a:ln/>
        </p:spPr>
        <p:txBody>
          <a:bodyPr wrap="square" rtlCol="0" anchor="ctr"/>
          <a:lstStyle/>
          <a:p>
            <a:pPr marL="0" indent="0">
              <a:lnSpc>
                <a:spcPct val="130000"/>
              </a:lnSpc>
              <a:buNone/>
            </a:pPr>
            <a:r>
              <a:rPr lang="en-US" sz="1100" dirty="0">
                <a:solidFill>
                  <a:srgbClr val="64748B"/>
                </a:solidFill>
              </a:rPr>
              <a:t>Robust anonymization and data privacy protections are essential</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8090"/>
          </a:solidFill>
          <a:ln w="12700">
            <a:solidFill>
              <a:srgbClr val="028090"/>
            </a:solidFill>
            <a:prstDash val="solid"/>
          </a:ln>
        </p:spPr>
        <p:txBody>
          <a:bodyPr/>
          <a:lstStyle/>
          <a:p>
            <a:endParaRPr lang="en-IN"/>
          </a:p>
        </p:txBody>
      </p:sp>
      <p:sp>
        <p:nvSpPr>
          <p:cNvPr id="3" name="Text 1"/>
          <p:cNvSpPr/>
          <p:nvPr/>
        </p:nvSpPr>
        <p:spPr>
          <a:xfrm>
            <a:off x="365760" y="0"/>
            <a:ext cx="8229600" cy="82296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Team Contributions</a:t>
            </a:r>
            <a:endParaRPr lang="en-US" sz="2600" dirty="0"/>
          </a:p>
        </p:txBody>
      </p:sp>
      <p:sp>
        <p:nvSpPr>
          <p:cNvPr id="4" name="Shape 2"/>
          <p:cNvSpPr/>
          <p:nvPr/>
        </p:nvSpPr>
        <p:spPr>
          <a:xfrm>
            <a:off x="228600" y="960120"/>
            <a:ext cx="2743200" cy="39319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5" name="Shape 3"/>
          <p:cNvSpPr/>
          <p:nvPr/>
        </p:nvSpPr>
        <p:spPr>
          <a:xfrm>
            <a:off x="228600" y="960120"/>
            <a:ext cx="2743200" cy="502920"/>
          </a:xfrm>
          <a:prstGeom prst="rect">
            <a:avLst/>
          </a:prstGeom>
          <a:solidFill>
            <a:srgbClr val="E53E3E"/>
          </a:solidFill>
          <a:ln w="12700">
            <a:solidFill>
              <a:srgbClr val="E53E3E"/>
            </a:solidFill>
            <a:prstDash val="solid"/>
          </a:ln>
        </p:spPr>
        <p:txBody>
          <a:bodyPr/>
          <a:lstStyle/>
          <a:p>
            <a:endParaRPr lang="en-IN"/>
          </a:p>
        </p:txBody>
      </p:sp>
      <p:sp>
        <p:nvSpPr>
          <p:cNvPr id="6" name="Text 4"/>
          <p:cNvSpPr/>
          <p:nvPr/>
        </p:nvSpPr>
        <p:spPr>
          <a:xfrm>
            <a:off x="320040" y="960120"/>
            <a:ext cx="2560320" cy="502920"/>
          </a:xfrm>
          <a:prstGeom prst="rect">
            <a:avLst/>
          </a:prstGeom>
          <a:noFill/>
          <a:ln/>
        </p:spPr>
        <p:txBody>
          <a:bodyPr wrap="square" rtlCol="0" anchor="ctr"/>
          <a:lstStyle/>
          <a:p>
            <a:pPr marL="0" indent="0">
              <a:buNone/>
            </a:pPr>
            <a:r>
              <a:rPr lang="en-US" sz="1300" b="1" dirty="0">
                <a:solidFill>
                  <a:srgbClr val="FFFFFF"/>
                </a:solidFill>
              </a:rPr>
              <a:t>Swetha Babu</a:t>
            </a:r>
            <a:endParaRPr lang="en-US" sz="1300" dirty="0"/>
          </a:p>
        </p:txBody>
      </p:sp>
      <p:sp>
        <p:nvSpPr>
          <p:cNvPr id="7" name="Text 5"/>
          <p:cNvSpPr/>
          <p:nvPr/>
        </p:nvSpPr>
        <p:spPr>
          <a:xfrm>
            <a:off x="320040" y="1508760"/>
            <a:ext cx="2560320" cy="320040"/>
          </a:xfrm>
          <a:prstGeom prst="rect">
            <a:avLst/>
          </a:prstGeom>
          <a:noFill/>
          <a:ln/>
        </p:spPr>
        <p:txBody>
          <a:bodyPr wrap="square" rtlCol="0" anchor="ctr"/>
          <a:lstStyle/>
          <a:p>
            <a:pPr marL="0" indent="0">
              <a:buNone/>
            </a:pPr>
            <a:r>
              <a:rPr lang="en-US" sz="1000" i="1" dirty="0">
                <a:solidFill>
                  <a:srgbClr val="64748B"/>
                </a:solidFill>
              </a:rPr>
              <a:t>254122 | </a:t>
            </a:r>
            <a:r>
              <a:rPr lang="en-US" sz="1000" i="1" dirty="0" err="1">
                <a:solidFill>
                  <a:srgbClr val="64748B"/>
                </a:solidFill>
              </a:rPr>
              <a:t>Msc</a:t>
            </a:r>
            <a:r>
              <a:rPr lang="en-US" sz="1000" i="1" dirty="0">
                <a:solidFill>
                  <a:srgbClr val="64748B"/>
                </a:solidFill>
              </a:rPr>
              <a:t> Data Analytics and Computational Science</a:t>
            </a:r>
            <a:endParaRPr lang="en-US" sz="1000" dirty="0"/>
          </a:p>
        </p:txBody>
      </p:sp>
      <p:sp>
        <p:nvSpPr>
          <p:cNvPr id="8" name="Shape 6"/>
          <p:cNvSpPr/>
          <p:nvPr/>
        </p:nvSpPr>
        <p:spPr>
          <a:xfrm>
            <a:off x="320040" y="1874520"/>
            <a:ext cx="2560320" cy="292608"/>
          </a:xfrm>
          <a:prstGeom prst="rect">
            <a:avLst/>
          </a:prstGeom>
          <a:solidFill>
            <a:srgbClr val="E53E3E"/>
          </a:solidFill>
          <a:ln w="12700">
            <a:solidFill>
              <a:srgbClr val="E53E3E"/>
            </a:solidFill>
            <a:prstDash val="solid"/>
          </a:ln>
        </p:spPr>
        <p:txBody>
          <a:bodyPr/>
          <a:lstStyle/>
          <a:p>
            <a:endParaRPr lang="en-IN"/>
          </a:p>
        </p:txBody>
      </p:sp>
      <p:sp>
        <p:nvSpPr>
          <p:cNvPr id="9" name="Text 7"/>
          <p:cNvSpPr/>
          <p:nvPr/>
        </p:nvSpPr>
        <p:spPr>
          <a:xfrm>
            <a:off x="320040" y="1874520"/>
            <a:ext cx="2560320" cy="292608"/>
          </a:xfrm>
          <a:prstGeom prst="rect">
            <a:avLst/>
          </a:prstGeom>
          <a:noFill/>
          <a:ln/>
        </p:spPr>
        <p:txBody>
          <a:bodyPr wrap="square" rtlCol="0" anchor="ctr"/>
          <a:lstStyle/>
          <a:p>
            <a:pPr marL="0" indent="0" algn="ctr">
              <a:buNone/>
            </a:pPr>
            <a:r>
              <a:rPr lang="en-US" sz="1000" b="1" dirty="0">
                <a:solidFill>
                  <a:srgbClr val="FFFFFF"/>
                </a:solidFill>
              </a:rPr>
              <a:t>Data Collection &amp; Preprocessing</a:t>
            </a:r>
            <a:endParaRPr lang="en-US" sz="1000" dirty="0"/>
          </a:p>
        </p:txBody>
      </p:sp>
      <p:sp>
        <p:nvSpPr>
          <p:cNvPr id="10" name="Text 8"/>
          <p:cNvSpPr/>
          <p:nvPr/>
        </p:nvSpPr>
        <p:spPr>
          <a:xfrm>
            <a:off x="320040" y="2258568"/>
            <a:ext cx="2560320" cy="365760"/>
          </a:xfrm>
          <a:prstGeom prst="rect">
            <a:avLst/>
          </a:prstGeom>
          <a:noFill/>
          <a:ln/>
        </p:spPr>
        <p:txBody>
          <a:bodyPr wrap="square" rtlCol="0" anchor="ctr"/>
          <a:lstStyle/>
          <a:p>
            <a:pPr marL="342900" indent="-342900">
              <a:lnSpc>
                <a:spcPct val="120000"/>
              </a:lnSpc>
              <a:buSzPct val="100000"/>
              <a:buChar char="•"/>
            </a:pPr>
            <a:r>
              <a:rPr lang="en-US" sz="1100" dirty="0">
                <a:solidFill>
                  <a:srgbClr val="0D1B2A"/>
                </a:solidFill>
              </a:rPr>
              <a:t>Collected Reddit posts from mental health subreddits</a:t>
            </a:r>
            <a:endParaRPr lang="en-US" sz="1100" dirty="0"/>
          </a:p>
        </p:txBody>
      </p:sp>
      <p:sp>
        <p:nvSpPr>
          <p:cNvPr id="11" name="Text 9"/>
          <p:cNvSpPr/>
          <p:nvPr/>
        </p:nvSpPr>
        <p:spPr>
          <a:xfrm>
            <a:off x="320040" y="2670048"/>
            <a:ext cx="2560320" cy="365760"/>
          </a:xfrm>
          <a:prstGeom prst="rect">
            <a:avLst/>
          </a:prstGeom>
          <a:noFill/>
          <a:ln/>
        </p:spPr>
        <p:txBody>
          <a:bodyPr wrap="square" rtlCol="0" anchor="ctr"/>
          <a:lstStyle/>
          <a:p>
            <a:pPr marL="342900" indent="-342900">
              <a:lnSpc>
                <a:spcPct val="120000"/>
              </a:lnSpc>
              <a:buSzPct val="100000"/>
              <a:buChar char="•"/>
            </a:pPr>
            <a:r>
              <a:rPr lang="en-US" sz="1100" dirty="0">
                <a:solidFill>
                  <a:srgbClr val="0D1B2A"/>
                </a:solidFill>
              </a:rPr>
              <a:t>Text cleaning: removed URLs, special chars, stopwords</a:t>
            </a:r>
            <a:endParaRPr lang="en-US" sz="1100" dirty="0"/>
          </a:p>
        </p:txBody>
      </p:sp>
      <p:sp>
        <p:nvSpPr>
          <p:cNvPr id="12" name="Text 10"/>
          <p:cNvSpPr/>
          <p:nvPr/>
        </p:nvSpPr>
        <p:spPr>
          <a:xfrm>
            <a:off x="320040" y="3081528"/>
            <a:ext cx="2560320" cy="365760"/>
          </a:xfrm>
          <a:prstGeom prst="rect">
            <a:avLst/>
          </a:prstGeom>
          <a:noFill/>
          <a:ln/>
        </p:spPr>
        <p:txBody>
          <a:bodyPr wrap="square" rtlCol="0" anchor="ctr"/>
          <a:lstStyle/>
          <a:p>
            <a:pPr marL="342900" indent="-342900">
              <a:lnSpc>
                <a:spcPct val="120000"/>
              </a:lnSpc>
              <a:buSzPct val="100000"/>
              <a:buChar char="•"/>
            </a:pPr>
            <a:r>
              <a:rPr lang="en-US" sz="1100" dirty="0">
                <a:solidFill>
                  <a:srgbClr val="0D1B2A"/>
                </a:solidFill>
              </a:rPr>
              <a:t>Anonymized data (removed PII)</a:t>
            </a:r>
            <a:endParaRPr lang="en-US" sz="1100" dirty="0"/>
          </a:p>
        </p:txBody>
      </p:sp>
      <p:sp>
        <p:nvSpPr>
          <p:cNvPr id="13" name="Text 11"/>
          <p:cNvSpPr/>
          <p:nvPr/>
        </p:nvSpPr>
        <p:spPr>
          <a:xfrm>
            <a:off x="320040" y="3493008"/>
            <a:ext cx="2560320" cy="365760"/>
          </a:xfrm>
          <a:prstGeom prst="rect">
            <a:avLst/>
          </a:prstGeom>
          <a:noFill/>
          <a:ln/>
        </p:spPr>
        <p:txBody>
          <a:bodyPr wrap="square" rtlCol="0" anchor="ctr"/>
          <a:lstStyle/>
          <a:p>
            <a:pPr marL="342900" indent="-342900">
              <a:lnSpc>
                <a:spcPct val="120000"/>
              </a:lnSpc>
              <a:buSzPct val="100000"/>
              <a:buChar char="•"/>
            </a:pPr>
            <a:r>
              <a:rPr lang="en-US" sz="1100" dirty="0">
                <a:solidFill>
                  <a:srgbClr val="0D1B2A"/>
                </a:solidFill>
              </a:rPr>
              <a:t>Handled ethical and privacy concerns</a:t>
            </a:r>
            <a:endParaRPr lang="en-US" sz="1100" dirty="0"/>
          </a:p>
        </p:txBody>
      </p:sp>
      <p:sp>
        <p:nvSpPr>
          <p:cNvPr id="14" name="Shape 12"/>
          <p:cNvSpPr/>
          <p:nvPr/>
        </p:nvSpPr>
        <p:spPr>
          <a:xfrm>
            <a:off x="3200400" y="960120"/>
            <a:ext cx="2743200" cy="39319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15" name="Shape 13"/>
          <p:cNvSpPr/>
          <p:nvPr/>
        </p:nvSpPr>
        <p:spPr>
          <a:xfrm>
            <a:off x="3200400" y="960120"/>
            <a:ext cx="2743200" cy="502920"/>
          </a:xfrm>
          <a:prstGeom prst="rect">
            <a:avLst/>
          </a:prstGeom>
          <a:solidFill>
            <a:srgbClr val="028090"/>
          </a:solidFill>
          <a:ln w="12700">
            <a:solidFill>
              <a:srgbClr val="028090"/>
            </a:solidFill>
            <a:prstDash val="solid"/>
          </a:ln>
        </p:spPr>
        <p:txBody>
          <a:bodyPr/>
          <a:lstStyle/>
          <a:p>
            <a:endParaRPr lang="en-IN"/>
          </a:p>
        </p:txBody>
      </p:sp>
      <p:sp>
        <p:nvSpPr>
          <p:cNvPr id="16" name="Text 14"/>
          <p:cNvSpPr/>
          <p:nvPr/>
        </p:nvSpPr>
        <p:spPr>
          <a:xfrm>
            <a:off x="3291840" y="960120"/>
            <a:ext cx="2560320" cy="502920"/>
          </a:xfrm>
          <a:prstGeom prst="rect">
            <a:avLst/>
          </a:prstGeom>
          <a:noFill/>
          <a:ln/>
        </p:spPr>
        <p:txBody>
          <a:bodyPr wrap="square" rtlCol="0" anchor="ctr"/>
          <a:lstStyle/>
          <a:p>
            <a:pPr marL="0" indent="0">
              <a:buNone/>
            </a:pPr>
            <a:r>
              <a:rPr lang="en-US" sz="1300" b="1" dirty="0">
                <a:solidFill>
                  <a:srgbClr val="FFFFFF"/>
                </a:solidFill>
              </a:rPr>
              <a:t>Sebin George</a:t>
            </a:r>
            <a:endParaRPr lang="en-US" sz="1300" dirty="0"/>
          </a:p>
        </p:txBody>
      </p:sp>
      <p:sp>
        <p:nvSpPr>
          <p:cNvPr id="17" name="Text 15"/>
          <p:cNvSpPr/>
          <p:nvPr/>
        </p:nvSpPr>
        <p:spPr>
          <a:xfrm>
            <a:off x="3291840" y="1508760"/>
            <a:ext cx="2560320" cy="320040"/>
          </a:xfrm>
          <a:prstGeom prst="rect">
            <a:avLst/>
          </a:prstGeom>
          <a:noFill/>
          <a:ln/>
        </p:spPr>
        <p:txBody>
          <a:bodyPr wrap="square" rtlCol="0" anchor="ctr"/>
          <a:lstStyle/>
          <a:p>
            <a:pPr marL="0" indent="0">
              <a:buNone/>
            </a:pPr>
            <a:r>
              <a:rPr lang="en-US" sz="1000" i="1" dirty="0">
                <a:solidFill>
                  <a:srgbClr val="64748B"/>
                </a:solidFill>
              </a:rPr>
              <a:t>253309 | MSc Data Science &amp; Geoinformatics</a:t>
            </a:r>
            <a:endParaRPr lang="en-US" sz="1000" dirty="0"/>
          </a:p>
        </p:txBody>
      </p:sp>
      <p:sp>
        <p:nvSpPr>
          <p:cNvPr id="18" name="Shape 16"/>
          <p:cNvSpPr/>
          <p:nvPr/>
        </p:nvSpPr>
        <p:spPr>
          <a:xfrm>
            <a:off x="3291840" y="1874520"/>
            <a:ext cx="2560320" cy="292608"/>
          </a:xfrm>
          <a:prstGeom prst="rect">
            <a:avLst/>
          </a:prstGeom>
          <a:solidFill>
            <a:srgbClr val="028090"/>
          </a:solidFill>
          <a:ln w="12700">
            <a:solidFill>
              <a:srgbClr val="028090"/>
            </a:solidFill>
            <a:prstDash val="solid"/>
          </a:ln>
        </p:spPr>
        <p:txBody>
          <a:bodyPr/>
          <a:lstStyle/>
          <a:p>
            <a:endParaRPr lang="en-IN"/>
          </a:p>
        </p:txBody>
      </p:sp>
      <p:sp>
        <p:nvSpPr>
          <p:cNvPr id="19" name="Text 17"/>
          <p:cNvSpPr/>
          <p:nvPr/>
        </p:nvSpPr>
        <p:spPr>
          <a:xfrm>
            <a:off x="3291840" y="1874520"/>
            <a:ext cx="2560320" cy="292608"/>
          </a:xfrm>
          <a:prstGeom prst="rect">
            <a:avLst/>
          </a:prstGeom>
          <a:noFill/>
          <a:ln/>
        </p:spPr>
        <p:txBody>
          <a:bodyPr wrap="square" rtlCol="0" anchor="ctr"/>
          <a:lstStyle/>
          <a:p>
            <a:pPr marL="0" indent="0" algn="ctr">
              <a:buNone/>
            </a:pPr>
            <a:r>
              <a:rPr lang="en-US" sz="1000" b="1" dirty="0">
                <a:solidFill>
                  <a:srgbClr val="FFFFFF"/>
                </a:solidFill>
              </a:rPr>
              <a:t>Model Building &amp; Training</a:t>
            </a:r>
            <a:endParaRPr lang="en-US" sz="1000" dirty="0"/>
          </a:p>
        </p:txBody>
      </p:sp>
      <p:sp>
        <p:nvSpPr>
          <p:cNvPr id="20" name="Text 18"/>
          <p:cNvSpPr/>
          <p:nvPr/>
        </p:nvSpPr>
        <p:spPr>
          <a:xfrm>
            <a:off x="3291840" y="2258568"/>
            <a:ext cx="2560320" cy="365760"/>
          </a:xfrm>
          <a:prstGeom prst="rect">
            <a:avLst/>
          </a:prstGeom>
          <a:noFill/>
          <a:ln/>
        </p:spPr>
        <p:txBody>
          <a:bodyPr wrap="square" rtlCol="0" anchor="ctr"/>
          <a:lstStyle/>
          <a:p>
            <a:pPr marL="342900" indent="-342900">
              <a:lnSpc>
                <a:spcPct val="120000"/>
              </a:lnSpc>
              <a:buSzPct val="100000"/>
              <a:buChar char="•"/>
            </a:pPr>
            <a:r>
              <a:rPr lang="en-US" sz="1100" dirty="0">
                <a:solidFill>
                  <a:srgbClr val="0D1B2A"/>
                </a:solidFill>
              </a:rPr>
              <a:t>TF-IDF + SVM baseline model</a:t>
            </a:r>
            <a:endParaRPr lang="en-US" sz="1100" dirty="0"/>
          </a:p>
        </p:txBody>
      </p:sp>
      <p:sp>
        <p:nvSpPr>
          <p:cNvPr id="21" name="Text 19"/>
          <p:cNvSpPr/>
          <p:nvPr/>
        </p:nvSpPr>
        <p:spPr>
          <a:xfrm>
            <a:off x="3291840" y="2670048"/>
            <a:ext cx="2560320" cy="365760"/>
          </a:xfrm>
          <a:prstGeom prst="rect">
            <a:avLst/>
          </a:prstGeom>
          <a:noFill/>
          <a:ln/>
        </p:spPr>
        <p:txBody>
          <a:bodyPr wrap="square" rtlCol="0" anchor="ctr"/>
          <a:lstStyle/>
          <a:p>
            <a:pPr marL="342900" indent="-342900">
              <a:lnSpc>
                <a:spcPct val="120000"/>
              </a:lnSpc>
              <a:buSzPct val="100000"/>
              <a:buChar char="•"/>
            </a:pPr>
            <a:r>
              <a:rPr lang="en-US" sz="1100" dirty="0">
                <a:solidFill>
                  <a:srgbClr val="0D1B2A"/>
                </a:solidFill>
              </a:rPr>
              <a:t>Fine-tuned BERT for sequence classification</a:t>
            </a:r>
            <a:endParaRPr lang="en-US" sz="1100" dirty="0"/>
          </a:p>
        </p:txBody>
      </p:sp>
      <p:sp>
        <p:nvSpPr>
          <p:cNvPr id="22" name="Text 20"/>
          <p:cNvSpPr/>
          <p:nvPr/>
        </p:nvSpPr>
        <p:spPr>
          <a:xfrm>
            <a:off x="3291840" y="3081528"/>
            <a:ext cx="2560320" cy="365760"/>
          </a:xfrm>
          <a:prstGeom prst="rect">
            <a:avLst/>
          </a:prstGeom>
          <a:noFill/>
          <a:ln/>
        </p:spPr>
        <p:txBody>
          <a:bodyPr wrap="square" rtlCol="0" anchor="ctr"/>
          <a:lstStyle/>
          <a:p>
            <a:pPr marL="342900" indent="-342900">
              <a:lnSpc>
                <a:spcPct val="120000"/>
              </a:lnSpc>
              <a:buSzPct val="100000"/>
              <a:buChar char="•"/>
            </a:pPr>
            <a:r>
              <a:rPr lang="en-US" sz="1100" dirty="0">
                <a:solidFill>
                  <a:srgbClr val="0D1B2A"/>
                </a:solidFill>
              </a:rPr>
              <a:t>Stratified 80/20 train-test split</a:t>
            </a:r>
            <a:endParaRPr lang="en-US" sz="1100" dirty="0"/>
          </a:p>
        </p:txBody>
      </p:sp>
      <p:sp>
        <p:nvSpPr>
          <p:cNvPr id="23" name="Text 21"/>
          <p:cNvSpPr/>
          <p:nvPr/>
        </p:nvSpPr>
        <p:spPr>
          <a:xfrm>
            <a:off x="3291840" y="3493008"/>
            <a:ext cx="2560320" cy="365760"/>
          </a:xfrm>
          <a:prstGeom prst="rect">
            <a:avLst/>
          </a:prstGeom>
          <a:noFill/>
          <a:ln/>
        </p:spPr>
        <p:txBody>
          <a:bodyPr wrap="square" rtlCol="0" anchor="ctr"/>
          <a:lstStyle/>
          <a:p>
            <a:pPr marL="342900" indent="-342900">
              <a:lnSpc>
                <a:spcPct val="120000"/>
              </a:lnSpc>
              <a:buSzPct val="100000"/>
              <a:buChar char="•"/>
            </a:pPr>
            <a:r>
              <a:rPr lang="en-US" sz="1100" dirty="0">
                <a:solidFill>
                  <a:srgbClr val="0D1B2A"/>
                </a:solidFill>
              </a:rPr>
              <a:t>Saved predictions as y_pred_svm.npy &amp; y_pred_bert.npy</a:t>
            </a:r>
            <a:endParaRPr lang="en-US" sz="1100" dirty="0"/>
          </a:p>
        </p:txBody>
      </p:sp>
      <p:sp>
        <p:nvSpPr>
          <p:cNvPr id="24" name="Shape 22"/>
          <p:cNvSpPr/>
          <p:nvPr/>
        </p:nvSpPr>
        <p:spPr>
          <a:xfrm>
            <a:off x="6172200" y="960120"/>
            <a:ext cx="2743200" cy="39319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en-IN"/>
          </a:p>
        </p:txBody>
      </p:sp>
      <p:sp>
        <p:nvSpPr>
          <p:cNvPr id="25" name="Shape 23"/>
          <p:cNvSpPr/>
          <p:nvPr/>
        </p:nvSpPr>
        <p:spPr>
          <a:xfrm>
            <a:off x="6172200" y="960120"/>
            <a:ext cx="2743200" cy="502920"/>
          </a:xfrm>
          <a:prstGeom prst="rect">
            <a:avLst/>
          </a:prstGeom>
          <a:solidFill>
            <a:srgbClr val="6B46C1"/>
          </a:solidFill>
          <a:ln w="12700">
            <a:solidFill>
              <a:srgbClr val="6B46C1"/>
            </a:solidFill>
            <a:prstDash val="solid"/>
          </a:ln>
        </p:spPr>
        <p:txBody>
          <a:bodyPr/>
          <a:lstStyle/>
          <a:p>
            <a:endParaRPr lang="en-IN"/>
          </a:p>
        </p:txBody>
      </p:sp>
      <p:sp>
        <p:nvSpPr>
          <p:cNvPr id="26" name="Text 24"/>
          <p:cNvSpPr/>
          <p:nvPr/>
        </p:nvSpPr>
        <p:spPr>
          <a:xfrm>
            <a:off x="6263640" y="960120"/>
            <a:ext cx="2560320" cy="502920"/>
          </a:xfrm>
          <a:prstGeom prst="rect">
            <a:avLst/>
          </a:prstGeom>
          <a:noFill/>
          <a:ln/>
        </p:spPr>
        <p:txBody>
          <a:bodyPr wrap="square" rtlCol="0" anchor="ctr"/>
          <a:lstStyle/>
          <a:p>
            <a:pPr marL="0" indent="0">
              <a:buNone/>
            </a:pPr>
            <a:r>
              <a:rPr lang="en-US" sz="1300" b="1" dirty="0">
                <a:solidFill>
                  <a:srgbClr val="FFFFFF"/>
                </a:solidFill>
              </a:rPr>
              <a:t>Arun P S</a:t>
            </a:r>
            <a:endParaRPr lang="en-US" sz="1300" dirty="0"/>
          </a:p>
        </p:txBody>
      </p:sp>
      <p:sp>
        <p:nvSpPr>
          <p:cNvPr id="27" name="Text 25"/>
          <p:cNvSpPr/>
          <p:nvPr/>
        </p:nvSpPr>
        <p:spPr>
          <a:xfrm>
            <a:off x="6263640" y="1508760"/>
            <a:ext cx="2560320" cy="320040"/>
          </a:xfrm>
          <a:prstGeom prst="rect">
            <a:avLst/>
          </a:prstGeom>
          <a:noFill/>
          <a:ln/>
        </p:spPr>
        <p:txBody>
          <a:bodyPr wrap="square" rtlCol="0" anchor="ctr"/>
          <a:lstStyle/>
          <a:p>
            <a:pPr marL="0" indent="0">
              <a:buNone/>
            </a:pPr>
            <a:r>
              <a:rPr lang="en-US" sz="1000" i="1" dirty="0">
                <a:solidFill>
                  <a:srgbClr val="64748B"/>
                </a:solidFill>
              </a:rPr>
              <a:t>253206 | MSc Data Science &amp; BioAI</a:t>
            </a:r>
            <a:endParaRPr lang="en-US" sz="1000" dirty="0"/>
          </a:p>
        </p:txBody>
      </p:sp>
      <p:sp>
        <p:nvSpPr>
          <p:cNvPr id="28" name="Shape 26"/>
          <p:cNvSpPr/>
          <p:nvPr/>
        </p:nvSpPr>
        <p:spPr>
          <a:xfrm>
            <a:off x="6263640" y="1874520"/>
            <a:ext cx="2560320" cy="292608"/>
          </a:xfrm>
          <a:prstGeom prst="rect">
            <a:avLst/>
          </a:prstGeom>
          <a:solidFill>
            <a:srgbClr val="6B46C1"/>
          </a:solidFill>
          <a:ln w="12700">
            <a:solidFill>
              <a:srgbClr val="6B46C1"/>
            </a:solidFill>
            <a:prstDash val="solid"/>
          </a:ln>
        </p:spPr>
        <p:txBody>
          <a:bodyPr/>
          <a:lstStyle/>
          <a:p>
            <a:endParaRPr lang="en-IN"/>
          </a:p>
        </p:txBody>
      </p:sp>
      <p:sp>
        <p:nvSpPr>
          <p:cNvPr id="29" name="Text 27"/>
          <p:cNvSpPr/>
          <p:nvPr/>
        </p:nvSpPr>
        <p:spPr>
          <a:xfrm>
            <a:off x="6263640" y="1874520"/>
            <a:ext cx="2560320" cy="292608"/>
          </a:xfrm>
          <a:prstGeom prst="rect">
            <a:avLst/>
          </a:prstGeom>
          <a:noFill/>
          <a:ln/>
        </p:spPr>
        <p:txBody>
          <a:bodyPr wrap="square" rtlCol="0" anchor="ctr"/>
          <a:lstStyle/>
          <a:p>
            <a:pPr marL="0" indent="0" algn="ctr">
              <a:buNone/>
            </a:pPr>
            <a:r>
              <a:rPr lang="en-US" sz="1000" b="1" dirty="0">
                <a:solidFill>
                  <a:srgbClr val="FFFFFF"/>
                </a:solidFill>
              </a:rPr>
              <a:t>Model Evaluation &amp; Comparison</a:t>
            </a:r>
            <a:endParaRPr lang="en-US" sz="1000" dirty="0"/>
          </a:p>
        </p:txBody>
      </p:sp>
      <p:sp>
        <p:nvSpPr>
          <p:cNvPr id="30" name="Text 28"/>
          <p:cNvSpPr/>
          <p:nvPr/>
        </p:nvSpPr>
        <p:spPr>
          <a:xfrm>
            <a:off x="6263640" y="2258568"/>
            <a:ext cx="2560320" cy="365760"/>
          </a:xfrm>
          <a:prstGeom prst="rect">
            <a:avLst/>
          </a:prstGeom>
          <a:noFill/>
          <a:ln/>
        </p:spPr>
        <p:txBody>
          <a:bodyPr wrap="square" rtlCol="0" anchor="ctr"/>
          <a:lstStyle/>
          <a:p>
            <a:pPr marL="342900" indent="-342900">
              <a:lnSpc>
                <a:spcPct val="120000"/>
              </a:lnSpc>
              <a:buSzPct val="100000"/>
              <a:buChar char="•"/>
            </a:pPr>
            <a:r>
              <a:rPr lang="en-US" sz="1100" dirty="0">
                <a:solidFill>
                  <a:srgbClr val="0D1B2A"/>
                </a:solidFill>
              </a:rPr>
              <a:t>Loaded predictions &amp; computed per-class metrics</a:t>
            </a:r>
            <a:endParaRPr lang="en-US" sz="1100" dirty="0"/>
          </a:p>
        </p:txBody>
      </p:sp>
      <p:sp>
        <p:nvSpPr>
          <p:cNvPr id="31" name="Text 29"/>
          <p:cNvSpPr/>
          <p:nvPr/>
        </p:nvSpPr>
        <p:spPr>
          <a:xfrm>
            <a:off x="6263640" y="2670048"/>
            <a:ext cx="2560320" cy="365760"/>
          </a:xfrm>
          <a:prstGeom prst="rect">
            <a:avLst/>
          </a:prstGeom>
          <a:noFill/>
          <a:ln/>
        </p:spPr>
        <p:txBody>
          <a:bodyPr wrap="square" rtlCol="0" anchor="ctr"/>
          <a:lstStyle/>
          <a:p>
            <a:pPr marL="342900" indent="-342900">
              <a:lnSpc>
                <a:spcPct val="120000"/>
              </a:lnSpc>
              <a:buSzPct val="100000"/>
              <a:buChar char="•"/>
            </a:pPr>
            <a:r>
              <a:rPr lang="en-US" sz="1100" dirty="0">
                <a:solidFill>
                  <a:srgbClr val="0D1B2A"/>
                </a:solidFill>
              </a:rPr>
              <a:t>Generated confusion matrix heatmaps</a:t>
            </a:r>
            <a:endParaRPr lang="en-US" sz="1100" dirty="0"/>
          </a:p>
        </p:txBody>
      </p:sp>
      <p:sp>
        <p:nvSpPr>
          <p:cNvPr id="32" name="Text 30"/>
          <p:cNvSpPr/>
          <p:nvPr/>
        </p:nvSpPr>
        <p:spPr>
          <a:xfrm>
            <a:off x="6263640" y="3081528"/>
            <a:ext cx="2560320" cy="365760"/>
          </a:xfrm>
          <a:prstGeom prst="rect">
            <a:avLst/>
          </a:prstGeom>
          <a:noFill/>
          <a:ln/>
        </p:spPr>
        <p:txBody>
          <a:bodyPr wrap="square" rtlCol="0" anchor="ctr"/>
          <a:lstStyle/>
          <a:p>
            <a:pPr marL="342900" indent="-342900">
              <a:lnSpc>
                <a:spcPct val="120000"/>
              </a:lnSpc>
              <a:buSzPct val="100000"/>
              <a:buChar char="•"/>
            </a:pPr>
            <a:r>
              <a:rPr lang="en-US" sz="1100" dirty="0">
                <a:solidFill>
                  <a:srgbClr val="0D1B2A"/>
                </a:solidFill>
              </a:rPr>
              <a:t>Produced evaluation_summary.csv</a:t>
            </a:r>
            <a:endParaRPr lang="en-US" sz="1100" dirty="0"/>
          </a:p>
        </p:txBody>
      </p:sp>
      <p:sp>
        <p:nvSpPr>
          <p:cNvPr id="33" name="Text 31"/>
          <p:cNvSpPr/>
          <p:nvPr/>
        </p:nvSpPr>
        <p:spPr>
          <a:xfrm>
            <a:off x="6263640" y="3493008"/>
            <a:ext cx="2560320" cy="365760"/>
          </a:xfrm>
          <a:prstGeom prst="rect">
            <a:avLst/>
          </a:prstGeom>
          <a:noFill/>
          <a:ln/>
        </p:spPr>
        <p:txBody>
          <a:bodyPr wrap="square" rtlCol="0" anchor="ctr"/>
          <a:lstStyle/>
          <a:p>
            <a:pPr marL="342900" indent="-342900">
              <a:lnSpc>
                <a:spcPct val="120000"/>
              </a:lnSpc>
              <a:buSzPct val="100000"/>
              <a:buChar char="•"/>
            </a:pPr>
            <a:r>
              <a:rPr lang="en-US" sz="1100" dirty="0">
                <a:solidFill>
                  <a:srgbClr val="0D1B2A"/>
                </a:solidFill>
              </a:rPr>
              <a:t>Authored discussion.md on ethics &amp; use cases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C39A"/>
          </a:solidFill>
          <a:ln w="12700">
            <a:solidFill>
              <a:srgbClr val="02C39A"/>
            </a:solidFill>
            <a:prstDash val="solid"/>
          </a:ln>
        </p:spPr>
        <p:txBody>
          <a:bodyPr/>
          <a:lstStyle/>
          <a:p>
            <a:endParaRPr lang="en-IN"/>
          </a:p>
        </p:txBody>
      </p:sp>
      <p:sp>
        <p:nvSpPr>
          <p:cNvPr id="3" name="Text 1"/>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Conclusion</a:t>
            </a:r>
            <a:endParaRPr lang="en-US" sz="3200" dirty="0"/>
          </a:p>
        </p:txBody>
      </p:sp>
      <p:sp>
        <p:nvSpPr>
          <p:cNvPr id="4" name="Shape 2"/>
          <p:cNvSpPr/>
          <p:nvPr/>
        </p:nvSpPr>
        <p:spPr>
          <a:xfrm>
            <a:off x="457200" y="960120"/>
            <a:ext cx="4572000" cy="36576"/>
          </a:xfrm>
          <a:prstGeom prst="rect">
            <a:avLst/>
          </a:prstGeom>
          <a:solidFill>
            <a:srgbClr val="02C39A"/>
          </a:solidFill>
          <a:ln w="12700">
            <a:solidFill>
              <a:srgbClr val="02C39A"/>
            </a:solidFill>
            <a:prstDash val="solid"/>
          </a:ln>
        </p:spPr>
        <p:txBody>
          <a:bodyPr/>
          <a:lstStyle/>
          <a:p>
            <a:endParaRPr lang="en-IN"/>
          </a:p>
        </p:txBody>
      </p:sp>
      <p:sp>
        <p:nvSpPr>
          <p:cNvPr id="5" name="Shape 3"/>
          <p:cNvSpPr/>
          <p:nvPr/>
        </p:nvSpPr>
        <p:spPr>
          <a:xfrm>
            <a:off x="457200" y="1188720"/>
            <a:ext cx="384048" cy="384048"/>
          </a:xfrm>
          <a:prstGeom prst="ellipse">
            <a:avLst/>
          </a:prstGeom>
          <a:solidFill>
            <a:srgbClr val="028090"/>
          </a:solidFill>
          <a:ln w="12700">
            <a:solidFill>
              <a:srgbClr val="028090"/>
            </a:solidFill>
            <a:prstDash val="solid"/>
          </a:ln>
        </p:spPr>
        <p:txBody>
          <a:bodyPr/>
          <a:lstStyle/>
          <a:p>
            <a:endParaRPr lang="en-IN"/>
          </a:p>
        </p:txBody>
      </p:sp>
      <p:sp>
        <p:nvSpPr>
          <p:cNvPr id="6" name="Text 4"/>
          <p:cNvSpPr/>
          <p:nvPr/>
        </p:nvSpPr>
        <p:spPr>
          <a:xfrm>
            <a:off x="457200" y="1188720"/>
            <a:ext cx="384048" cy="384048"/>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7" name="Text 5"/>
          <p:cNvSpPr/>
          <p:nvPr/>
        </p:nvSpPr>
        <p:spPr>
          <a:xfrm>
            <a:off x="1005840" y="1207008"/>
            <a:ext cx="7772400" cy="347472"/>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BERT achieves 85.7% accuracy vs SVM's 82.2% — a 3.5% improvement</a:t>
            </a:r>
            <a:endParaRPr lang="en-US" sz="1400" dirty="0"/>
          </a:p>
        </p:txBody>
      </p:sp>
      <p:sp>
        <p:nvSpPr>
          <p:cNvPr id="8" name="Shape 6"/>
          <p:cNvSpPr/>
          <p:nvPr/>
        </p:nvSpPr>
        <p:spPr>
          <a:xfrm>
            <a:off x="457200" y="1856232"/>
            <a:ext cx="384048" cy="384048"/>
          </a:xfrm>
          <a:prstGeom prst="ellipse">
            <a:avLst/>
          </a:prstGeom>
          <a:solidFill>
            <a:srgbClr val="028090"/>
          </a:solidFill>
          <a:ln w="12700">
            <a:solidFill>
              <a:srgbClr val="028090"/>
            </a:solidFill>
            <a:prstDash val="solid"/>
          </a:ln>
        </p:spPr>
        <p:txBody>
          <a:bodyPr/>
          <a:lstStyle/>
          <a:p>
            <a:endParaRPr lang="en-IN"/>
          </a:p>
        </p:txBody>
      </p:sp>
      <p:sp>
        <p:nvSpPr>
          <p:cNvPr id="9" name="Text 7"/>
          <p:cNvSpPr/>
          <p:nvPr/>
        </p:nvSpPr>
        <p:spPr>
          <a:xfrm>
            <a:off x="457200" y="1856232"/>
            <a:ext cx="384048" cy="384048"/>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0" name="Text 8"/>
          <p:cNvSpPr/>
          <p:nvPr/>
        </p:nvSpPr>
        <p:spPr>
          <a:xfrm>
            <a:off x="1005840" y="1874520"/>
            <a:ext cx="7772400" cy="347472"/>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Biggest gains in Anxiety and Normal classification categories</a:t>
            </a:r>
            <a:endParaRPr lang="en-US" sz="1400" dirty="0"/>
          </a:p>
        </p:txBody>
      </p:sp>
      <p:sp>
        <p:nvSpPr>
          <p:cNvPr id="11" name="Shape 9"/>
          <p:cNvSpPr/>
          <p:nvPr/>
        </p:nvSpPr>
        <p:spPr>
          <a:xfrm>
            <a:off x="457200" y="2523744"/>
            <a:ext cx="384048" cy="384048"/>
          </a:xfrm>
          <a:prstGeom prst="ellipse">
            <a:avLst/>
          </a:prstGeom>
          <a:solidFill>
            <a:srgbClr val="028090"/>
          </a:solidFill>
          <a:ln w="12700">
            <a:solidFill>
              <a:srgbClr val="028090"/>
            </a:solidFill>
            <a:prstDash val="solid"/>
          </a:ln>
        </p:spPr>
        <p:txBody>
          <a:bodyPr/>
          <a:lstStyle/>
          <a:p>
            <a:endParaRPr lang="en-IN"/>
          </a:p>
        </p:txBody>
      </p:sp>
      <p:sp>
        <p:nvSpPr>
          <p:cNvPr id="12" name="Text 10"/>
          <p:cNvSpPr/>
          <p:nvPr/>
        </p:nvSpPr>
        <p:spPr>
          <a:xfrm>
            <a:off x="457200" y="2523744"/>
            <a:ext cx="384048" cy="384048"/>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3" name="Text 11"/>
          <p:cNvSpPr/>
          <p:nvPr/>
        </p:nvSpPr>
        <p:spPr>
          <a:xfrm>
            <a:off x="1005840" y="2542032"/>
            <a:ext cx="7772400" cy="347472"/>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Real potential as an early intervention tool — flagging at-risk posts for human review</a:t>
            </a:r>
            <a:endParaRPr lang="en-US" sz="1400" dirty="0"/>
          </a:p>
        </p:txBody>
      </p:sp>
      <p:sp>
        <p:nvSpPr>
          <p:cNvPr id="14" name="Shape 12"/>
          <p:cNvSpPr/>
          <p:nvPr/>
        </p:nvSpPr>
        <p:spPr>
          <a:xfrm>
            <a:off x="457200" y="3191256"/>
            <a:ext cx="384048" cy="384048"/>
          </a:xfrm>
          <a:prstGeom prst="ellipse">
            <a:avLst/>
          </a:prstGeom>
          <a:solidFill>
            <a:srgbClr val="028090"/>
          </a:solidFill>
          <a:ln w="12700">
            <a:solidFill>
              <a:srgbClr val="028090"/>
            </a:solidFill>
            <a:prstDash val="solid"/>
          </a:ln>
        </p:spPr>
        <p:txBody>
          <a:bodyPr/>
          <a:lstStyle/>
          <a:p>
            <a:endParaRPr lang="en-IN"/>
          </a:p>
        </p:txBody>
      </p:sp>
      <p:sp>
        <p:nvSpPr>
          <p:cNvPr id="15" name="Text 13"/>
          <p:cNvSpPr/>
          <p:nvPr/>
        </p:nvSpPr>
        <p:spPr>
          <a:xfrm>
            <a:off x="457200" y="3191256"/>
            <a:ext cx="384048" cy="384048"/>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6" name="Text 14"/>
          <p:cNvSpPr/>
          <p:nvPr/>
        </p:nvSpPr>
        <p:spPr>
          <a:xfrm>
            <a:off x="1005840" y="3209544"/>
            <a:ext cx="7772400" cy="347472"/>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Accuracy alone is insufficient; ethical safeguards and human oversight are essential</a:t>
            </a:r>
            <a:endParaRPr lang="en-US" sz="1400" dirty="0"/>
          </a:p>
        </p:txBody>
      </p:sp>
      <p:sp>
        <p:nvSpPr>
          <p:cNvPr id="17" name="Shape 15"/>
          <p:cNvSpPr/>
          <p:nvPr/>
        </p:nvSpPr>
        <p:spPr>
          <a:xfrm>
            <a:off x="457200" y="3858768"/>
            <a:ext cx="384048" cy="384048"/>
          </a:xfrm>
          <a:prstGeom prst="ellipse">
            <a:avLst/>
          </a:prstGeom>
          <a:solidFill>
            <a:srgbClr val="028090"/>
          </a:solidFill>
          <a:ln w="12700">
            <a:solidFill>
              <a:srgbClr val="028090"/>
            </a:solidFill>
            <a:prstDash val="solid"/>
          </a:ln>
        </p:spPr>
        <p:txBody>
          <a:bodyPr/>
          <a:lstStyle/>
          <a:p>
            <a:endParaRPr lang="en-IN"/>
          </a:p>
        </p:txBody>
      </p:sp>
      <p:sp>
        <p:nvSpPr>
          <p:cNvPr id="18" name="Text 16"/>
          <p:cNvSpPr/>
          <p:nvPr/>
        </p:nvSpPr>
        <p:spPr>
          <a:xfrm>
            <a:off x="457200" y="3858768"/>
            <a:ext cx="384048" cy="384048"/>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9" name="Text 17"/>
          <p:cNvSpPr/>
          <p:nvPr/>
        </p:nvSpPr>
        <p:spPr>
          <a:xfrm>
            <a:off x="1005840" y="3877056"/>
            <a:ext cx="7772400" cy="347472"/>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Privacy, consent, and data bias must be addressed before real-world deployment</a:t>
            </a:r>
            <a:endParaRPr lang="en-US" sz="1400" dirty="0"/>
          </a:p>
        </p:txBody>
      </p:sp>
      <p:sp>
        <p:nvSpPr>
          <p:cNvPr id="20" name="Shape 18"/>
          <p:cNvSpPr/>
          <p:nvPr/>
        </p:nvSpPr>
        <p:spPr>
          <a:xfrm>
            <a:off x="457200" y="4572000"/>
            <a:ext cx="8412480" cy="384048"/>
          </a:xfrm>
          <a:prstGeom prst="rect">
            <a:avLst/>
          </a:prstGeom>
          <a:solidFill>
            <a:srgbClr val="028090"/>
          </a:solidFill>
          <a:ln w="12700">
            <a:solidFill>
              <a:srgbClr val="028090"/>
            </a:solidFill>
            <a:prstDash val="solid"/>
          </a:ln>
        </p:spPr>
        <p:txBody>
          <a:bodyPr/>
          <a:lstStyle/>
          <a:p>
            <a:endParaRPr lang="en-IN"/>
          </a:p>
        </p:txBody>
      </p:sp>
      <p:sp>
        <p:nvSpPr>
          <p:cNvPr id="21" name="Text 19"/>
          <p:cNvSpPr/>
          <p:nvPr/>
        </p:nvSpPr>
        <p:spPr>
          <a:xfrm>
            <a:off x="457200" y="4572000"/>
            <a:ext cx="8412480" cy="384048"/>
          </a:xfrm>
          <a:prstGeom prst="rect">
            <a:avLst/>
          </a:prstGeom>
          <a:noFill/>
          <a:ln/>
        </p:spPr>
        <p:txBody>
          <a:bodyPr wrap="square" rtlCol="0" anchor="ctr"/>
          <a:lstStyle/>
          <a:p>
            <a:pPr marL="0" indent="0" algn="ctr">
              <a:buNone/>
            </a:pPr>
            <a:r>
              <a:rPr lang="en-US" sz="1100" dirty="0">
                <a:solidFill>
                  <a:srgbClr val="FFFFFF"/>
                </a:solidFill>
              </a:rPr>
              <a:t>🔗  Live App: mental-health-status-classification-from-social-media-text-8cs.streamlit.app</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774</Words>
  <Application>Microsoft Office PowerPoint</Application>
  <PresentationFormat>On-screen Show (16:9)</PresentationFormat>
  <Paragraphs>236</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Mental Health Status Classification from Social Media Text</dc:title>
  <dc:subject>PptxGenJS Presentation</dc:subject>
  <dc:creator>PptxGenJS</dc:creator>
  <cp:lastModifiedBy>Sebin George</cp:lastModifiedBy>
  <cp:revision>2</cp:revision>
  <dcterms:created xsi:type="dcterms:W3CDTF">2026-05-16T17:24:17Z</dcterms:created>
  <dcterms:modified xsi:type="dcterms:W3CDTF">2026-05-16T17:30:03Z</dcterms:modified>
</cp:coreProperties>
</file>